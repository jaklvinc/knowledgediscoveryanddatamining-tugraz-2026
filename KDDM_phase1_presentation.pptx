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media/image1.jpeg" ContentType="image/jpeg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media/image2.jpeg" ContentType="image/jpeg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928600" cy="73152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64808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6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1pPr>
    <a:lvl2pPr marL="0" marR="0" indent="0" algn="l" defTabSz="64808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6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2pPr>
    <a:lvl3pPr marL="0" marR="0" indent="0" algn="l" defTabSz="64808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6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3pPr>
    <a:lvl4pPr marL="0" marR="0" indent="0" algn="l" defTabSz="64808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6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4pPr>
    <a:lvl5pPr marL="0" marR="0" indent="0" algn="l" defTabSz="64808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6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5pPr>
    <a:lvl6pPr marL="0" marR="0" indent="0" algn="l" defTabSz="64808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6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6pPr>
    <a:lvl7pPr marL="0" marR="0" indent="0" algn="l" defTabSz="64808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6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7pPr>
    <a:lvl8pPr marL="0" marR="0" indent="0" algn="l" defTabSz="64808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6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8pPr>
    <a:lvl9pPr marL="0" marR="0" indent="0" algn="l" defTabSz="64808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6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Shape 6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68" name="Shape 6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648080" latinLnBrk="0">
      <a:defRPr sz="1700">
        <a:latin typeface="+mj-lt"/>
        <a:ea typeface="+mj-ea"/>
        <a:cs typeface="+mj-cs"/>
        <a:sym typeface="Calibri"/>
      </a:defRPr>
    </a:lvl1pPr>
    <a:lvl2pPr indent="228600" defTabSz="648080" latinLnBrk="0">
      <a:defRPr sz="1700">
        <a:latin typeface="+mj-lt"/>
        <a:ea typeface="+mj-ea"/>
        <a:cs typeface="+mj-cs"/>
        <a:sym typeface="Calibri"/>
      </a:defRPr>
    </a:lvl2pPr>
    <a:lvl3pPr indent="457200" defTabSz="648080" latinLnBrk="0">
      <a:defRPr sz="1700">
        <a:latin typeface="+mj-lt"/>
        <a:ea typeface="+mj-ea"/>
        <a:cs typeface="+mj-cs"/>
        <a:sym typeface="Calibri"/>
      </a:defRPr>
    </a:lvl3pPr>
    <a:lvl4pPr indent="685800" defTabSz="648080" latinLnBrk="0">
      <a:defRPr sz="1700">
        <a:latin typeface="+mj-lt"/>
        <a:ea typeface="+mj-ea"/>
        <a:cs typeface="+mj-cs"/>
        <a:sym typeface="Calibri"/>
      </a:defRPr>
    </a:lvl4pPr>
    <a:lvl5pPr indent="914400" defTabSz="648080" latinLnBrk="0">
      <a:defRPr sz="1700">
        <a:latin typeface="+mj-lt"/>
        <a:ea typeface="+mj-ea"/>
        <a:cs typeface="+mj-cs"/>
        <a:sym typeface="Calibri"/>
      </a:defRPr>
    </a:lvl5pPr>
    <a:lvl6pPr indent="1143000" defTabSz="648080" latinLnBrk="0">
      <a:defRPr sz="1700">
        <a:latin typeface="+mj-lt"/>
        <a:ea typeface="+mj-ea"/>
        <a:cs typeface="+mj-cs"/>
        <a:sym typeface="Calibri"/>
      </a:defRPr>
    </a:lvl6pPr>
    <a:lvl7pPr indent="1371600" defTabSz="648080" latinLnBrk="0">
      <a:defRPr sz="1700">
        <a:latin typeface="+mj-lt"/>
        <a:ea typeface="+mj-ea"/>
        <a:cs typeface="+mj-cs"/>
        <a:sym typeface="Calibri"/>
      </a:defRPr>
    </a:lvl7pPr>
    <a:lvl8pPr indent="1600200" defTabSz="648080" latinLnBrk="0">
      <a:defRPr sz="1700">
        <a:latin typeface="+mj-lt"/>
        <a:ea typeface="+mj-ea"/>
        <a:cs typeface="+mj-cs"/>
        <a:sym typeface="Calibri"/>
      </a:defRPr>
    </a:lvl8pPr>
    <a:lvl9pPr indent="1828800" defTabSz="648080" latinLnBrk="0">
      <a:defRPr sz="1700">
        <a:latin typeface="+mj-lt"/>
        <a:ea typeface="+mj-ea"/>
        <a:cs typeface="+mj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hyperlink" Target="mailto:@tugraz.at" TargetMode="External"/><Relationship Id="rId4" Type="http://schemas.openxmlformats.org/officeDocument/2006/relationships/hyperlink" Target="http://www.iwt.tugraz.at/" TargetMode="External"/><Relationship Id="rId5" Type="http://schemas.openxmlformats.org/officeDocument/2006/relationships/image" Target="../media/image2.jpeg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IWT_cover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hteck 7"/>
          <p:cNvSpPr/>
          <p:nvPr/>
        </p:nvSpPr>
        <p:spPr>
          <a:xfrm>
            <a:off x="0" y="6707199"/>
            <a:ext cx="12938125" cy="614118"/>
          </a:xfrm>
          <a:prstGeom prst="rect">
            <a:avLst/>
          </a:prstGeom>
          <a:solidFill>
            <a:srgbClr val="D9D9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8" name="Gerade Verbindung 17"/>
          <p:cNvSpPr/>
          <p:nvPr/>
        </p:nvSpPr>
        <p:spPr>
          <a:xfrm>
            <a:off x="880586" y="715716"/>
            <a:ext cx="11868858" cy="1"/>
          </a:xfrm>
          <a:prstGeom prst="line">
            <a:avLst/>
          </a:prstGeom>
          <a:ln w="635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pic>
        <p:nvPicPr>
          <p:cNvPr id="19" name="Bild 21" descr="Bild 2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1523016" y="150773"/>
            <a:ext cx="1226428" cy="453804"/>
          </a:xfrm>
          <a:prstGeom prst="rect">
            <a:avLst/>
          </a:prstGeom>
          <a:ln w="12700">
            <a:miter lim="400000"/>
          </a:ln>
        </p:spPr>
      </p:pic>
      <p:sp>
        <p:nvSpPr>
          <p:cNvPr id="20" name="Textfeld 14"/>
          <p:cNvSpPr txBox="1"/>
          <p:nvPr/>
        </p:nvSpPr>
        <p:spPr>
          <a:xfrm>
            <a:off x="880588" y="6827791"/>
            <a:ext cx="7675317" cy="4005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400">
                <a:latin typeface="Arial"/>
                <a:ea typeface="Arial"/>
                <a:cs typeface="Arial"/>
                <a:sym typeface="Arial"/>
              </a:defRPr>
            </a:pPr>
            <a:r>
              <a:t>Kontakt: </a:t>
            </a: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3" invalidUrl="" action="" tgtFrame="" tooltip="" history="1" highlightClick="0" endSnd="0"/>
              </a:rPr>
              <a:t>....@tugraz.at</a:t>
            </a:r>
            <a:r>
              <a:t>, </a:t>
            </a: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4" invalidUrl="" action="" tgtFrame="" tooltip="" history="1" highlightClick="0" endSnd="0"/>
              </a:rPr>
              <a:t>www.iwt.tugraz.at</a:t>
            </a:r>
            <a:endParaRPr u="sng">
              <a:solidFill>
                <a:srgbClr val="0070C0"/>
              </a:solidFill>
            </a:endParaRPr>
          </a:p>
          <a:p>
            <a:pPr>
              <a:defRPr sz="1400">
                <a:latin typeface="Arial"/>
                <a:ea typeface="Arial"/>
                <a:cs typeface="Arial"/>
                <a:sym typeface="Arial"/>
              </a:defRPr>
            </a:pPr>
            <a:r>
              <a:t>Titel der Veranstaltung, Ort &amp; Datum</a:t>
            </a:r>
          </a:p>
        </p:txBody>
      </p:sp>
      <p:sp>
        <p:nvSpPr>
          <p:cNvPr id="21" name="Rechteck 19"/>
          <p:cNvSpPr/>
          <p:nvPr/>
        </p:nvSpPr>
        <p:spPr>
          <a:xfrm>
            <a:off x="1" y="715716"/>
            <a:ext cx="610968" cy="614118"/>
          </a:xfrm>
          <a:prstGeom prst="rect">
            <a:avLst/>
          </a:prstGeom>
          <a:solidFill>
            <a:srgbClr val="F7014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pic>
        <p:nvPicPr>
          <p:cNvPr id="22" name="Bild 1" descr="Bild 1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" y="0"/>
            <a:ext cx="12938126" cy="6706139"/>
          </a:xfrm>
          <a:prstGeom prst="rect">
            <a:avLst/>
          </a:prstGeom>
          <a:ln w="12700">
            <a:miter lim="400000"/>
          </a:ln>
        </p:spPr>
      </p:pic>
      <p:sp>
        <p:nvSpPr>
          <p:cNvPr id="23" name="Textfeld 271"/>
          <p:cNvSpPr txBox="1"/>
          <p:nvPr/>
        </p:nvSpPr>
        <p:spPr>
          <a:xfrm>
            <a:off x="10569532" y="1218837"/>
            <a:ext cx="2037691" cy="754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r">
              <a:defRPr spc="28" sz="1700">
                <a:latin typeface="Arial"/>
                <a:ea typeface="Arial"/>
                <a:cs typeface="Arial"/>
                <a:sym typeface="Arial"/>
              </a:defRPr>
            </a:pPr>
            <a:r>
              <a:t>WISSEN</a:t>
            </a:r>
            <a:endParaRPr spc="39" sz="2400"/>
          </a:p>
          <a:p>
            <a:pPr algn="r">
              <a:defRPr spc="28" sz="1700">
                <a:latin typeface="Arial"/>
                <a:ea typeface="Arial"/>
                <a:cs typeface="Arial"/>
                <a:sym typeface="Arial"/>
              </a:defRPr>
            </a:pPr>
            <a:r>
              <a:t>TECHNIK</a:t>
            </a:r>
            <a:endParaRPr spc="39" sz="2400"/>
          </a:p>
          <a:p>
            <a:pPr algn="r">
              <a:defRPr spc="28" sz="1700">
                <a:latin typeface="Arial"/>
                <a:ea typeface="Arial"/>
                <a:cs typeface="Arial"/>
                <a:sym typeface="Arial"/>
              </a:defRPr>
            </a:pPr>
            <a:r>
              <a:t>LEIDENSCHAFT</a:t>
            </a:r>
          </a:p>
        </p:txBody>
      </p:sp>
      <p:sp>
        <p:nvSpPr>
          <p:cNvPr id="24" name="Klicken und eine Überschrift hinzufügen"/>
          <p:cNvSpPr txBox="1"/>
          <p:nvPr>
            <p:ph type="title" hasCustomPrompt="1"/>
          </p:nvPr>
        </p:nvSpPr>
        <p:spPr>
          <a:xfrm>
            <a:off x="879471" y="1398587"/>
            <a:ext cx="8658002" cy="2426401"/>
          </a:xfrm>
          <a:prstGeom prst="rect">
            <a:avLst/>
          </a:prstGeom>
          <a:noFill/>
        </p:spPr>
        <p:txBody>
          <a:bodyPr anchor="b"/>
          <a:lstStyle>
            <a:lvl1pPr>
              <a:defRPr b="1" sz="4500">
                <a:solidFill>
                  <a:srgbClr val="F70146"/>
                </a:solidFill>
              </a:defRPr>
            </a:lvl1pPr>
          </a:lstStyle>
          <a:p>
            <a:pPr/>
            <a:r>
              <a:t>Klicken und eine Überschrift hinzufügen</a:t>
            </a:r>
          </a:p>
        </p:txBody>
      </p:sp>
      <p:sp>
        <p:nvSpPr>
          <p:cNvPr id="25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IWT_title_1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itel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33" name="Textebene 1…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34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IWT_title_2li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extebene 1…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42" name="Titeltext"/>
          <p:cNvSpPr txBox="1"/>
          <p:nvPr>
            <p:ph type="title"/>
          </p:nvPr>
        </p:nvSpPr>
        <p:spPr>
          <a:xfrm>
            <a:off x="880588" y="884237"/>
            <a:ext cx="11876400" cy="1220402"/>
          </a:xfrm>
          <a:prstGeom prst="rect">
            <a:avLst/>
          </a:prstGeom>
          <a:noFill/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43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IWT_2columns_title_1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iteltext"/>
          <p:cNvSpPr txBox="1"/>
          <p:nvPr>
            <p:ph type="title"/>
          </p:nvPr>
        </p:nvSpPr>
        <p:spPr>
          <a:prstGeom prst="rect">
            <a:avLst/>
          </a:prstGeom>
          <a:noFill/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51" name="Textebene 1…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52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IWT_2columns_title_2li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iteltext"/>
          <p:cNvSpPr txBox="1"/>
          <p:nvPr>
            <p:ph type="title"/>
          </p:nvPr>
        </p:nvSpPr>
        <p:spPr>
          <a:xfrm>
            <a:off x="880588" y="884237"/>
            <a:ext cx="11876400" cy="1220402"/>
          </a:xfrm>
          <a:prstGeom prst="rect">
            <a:avLst/>
          </a:prstGeom>
          <a:noFill/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60" name="Textebene 1…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61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jpeg"/><Relationship Id="rId3" Type="http://schemas.openxmlformats.org/officeDocument/2006/relationships/hyperlink" Target="mailto:@tugraz.at" TargetMode="External"/><Relationship Id="rId4" Type="http://schemas.openxmlformats.org/officeDocument/2006/relationships/hyperlink" Target="http://www.iwt.tugraz.at/" TargetMode="External"/><Relationship Id="rId5" Type="http://schemas.openxmlformats.org/officeDocument/2006/relationships/slideLayout" Target="../slideLayouts/slideLayout1.xml"/><Relationship Id="rId6" Type="http://schemas.openxmlformats.org/officeDocument/2006/relationships/slideLayout" Target="../slideLayouts/slideLayout2.xml"/><Relationship Id="rId7" Type="http://schemas.openxmlformats.org/officeDocument/2006/relationships/slideLayout" Target="../slideLayouts/slideLayout3.xml"/><Relationship Id="rId8" Type="http://schemas.openxmlformats.org/officeDocument/2006/relationships/slideLayout" Target="../slideLayouts/slideLayout4.xml"/><Relationship Id="rId9" Type="http://schemas.openxmlformats.org/officeDocument/2006/relationships/slideLayout" Target="../slideLayouts/slideLayout5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7"/>
          <p:cNvSpPr/>
          <p:nvPr/>
        </p:nvSpPr>
        <p:spPr>
          <a:xfrm>
            <a:off x="0" y="6707199"/>
            <a:ext cx="12938125" cy="614118"/>
          </a:xfrm>
          <a:prstGeom prst="rect">
            <a:avLst/>
          </a:prstGeom>
          <a:solidFill>
            <a:srgbClr val="D9D9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" name="Gerade Verbindung 17"/>
          <p:cNvSpPr/>
          <p:nvPr/>
        </p:nvSpPr>
        <p:spPr>
          <a:xfrm>
            <a:off x="880586" y="715716"/>
            <a:ext cx="11868858" cy="1"/>
          </a:xfrm>
          <a:prstGeom prst="line">
            <a:avLst/>
          </a:prstGeom>
          <a:ln w="635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pic>
        <p:nvPicPr>
          <p:cNvPr id="4" name="Bild 21" descr="Bild 2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1523016" y="150773"/>
            <a:ext cx="1226428" cy="453804"/>
          </a:xfrm>
          <a:prstGeom prst="rect">
            <a:avLst/>
          </a:prstGeom>
          <a:ln w="12700">
            <a:miter lim="400000"/>
          </a:ln>
        </p:spPr>
      </p:pic>
      <p:sp>
        <p:nvSpPr>
          <p:cNvPr id="5" name="Textfeld 14"/>
          <p:cNvSpPr txBox="1"/>
          <p:nvPr/>
        </p:nvSpPr>
        <p:spPr>
          <a:xfrm>
            <a:off x="880588" y="6827791"/>
            <a:ext cx="7675317" cy="4005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400">
                <a:latin typeface="Arial"/>
                <a:ea typeface="Arial"/>
                <a:cs typeface="Arial"/>
                <a:sym typeface="Arial"/>
              </a:defRPr>
            </a:pPr>
            <a:r>
              <a:t>Kontakt: </a:t>
            </a: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3" invalidUrl="" action="" tgtFrame="" tooltip="" history="1" highlightClick="0" endSnd="0"/>
              </a:rPr>
              <a:t>....@tugraz.at</a:t>
            </a:r>
            <a:r>
              <a:t>, </a:t>
            </a: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4" invalidUrl="" action="" tgtFrame="" tooltip="" history="1" highlightClick="0" endSnd="0"/>
              </a:rPr>
              <a:t>www.iwt.tugraz.at</a:t>
            </a:r>
            <a:endParaRPr u="sng">
              <a:solidFill>
                <a:srgbClr val="0070C0"/>
              </a:solidFill>
            </a:endParaRPr>
          </a:p>
          <a:p>
            <a:pPr>
              <a:defRPr sz="1400">
                <a:latin typeface="Arial"/>
                <a:ea typeface="Arial"/>
                <a:cs typeface="Arial"/>
                <a:sym typeface="Arial"/>
              </a:defRPr>
            </a:pPr>
            <a:r>
              <a:t>Titel der Veranstaltung, Ort &amp; Datum</a:t>
            </a:r>
          </a:p>
        </p:txBody>
      </p:sp>
      <p:sp>
        <p:nvSpPr>
          <p:cNvPr id="6" name="Rechteck 19"/>
          <p:cNvSpPr/>
          <p:nvPr/>
        </p:nvSpPr>
        <p:spPr>
          <a:xfrm>
            <a:off x="1" y="715716"/>
            <a:ext cx="610968" cy="614118"/>
          </a:xfrm>
          <a:prstGeom prst="rect">
            <a:avLst/>
          </a:prstGeom>
          <a:solidFill>
            <a:srgbClr val="F7014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7" name="Titeltext"/>
          <p:cNvSpPr txBox="1"/>
          <p:nvPr>
            <p:ph type="title"/>
          </p:nvPr>
        </p:nvSpPr>
        <p:spPr>
          <a:xfrm>
            <a:off x="880588" y="884237"/>
            <a:ext cx="11876400" cy="61411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/>
            <a:r>
              <a:t>Titeltext</a:t>
            </a:r>
          </a:p>
        </p:txBody>
      </p:sp>
      <p:sp>
        <p:nvSpPr>
          <p:cNvPr id="8" name="Textebene 1…"/>
          <p:cNvSpPr txBox="1"/>
          <p:nvPr>
            <p:ph type="body" idx="1"/>
          </p:nvPr>
        </p:nvSpPr>
        <p:spPr>
          <a:xfrm>
            <a:off x="880588" y="349996"/>
            <a:ext cx="10187500" cy="2867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9" name="Hockey"/>
          <p:cNvSpPr/>
          <p:nvPr/>
        </p:nvSpPr>
        <p:spPr>
          <a:xfrm>
            <a:off x="11784622" y="5265199"/>
            <a:ext cx="1066406" cy="198396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37" h="21405" fill="norm" stroke="1" extrusionOk="0">
                <a:moveTo>
                  <a:pt x="20360" y="4"/>
                </a:moveTo>
                <a:cubicBezTo>
                  <a:pt x="20162" y="-10"/>
                  <a:pt x="19920" y="15"/>
                  <a:pt x="19622" y="104"/>
                </a:cubicBezTo>
                <a:lnTo>
                  <a:pt x="8335" y="17757"/>
                </a:lnTo>
                <a:cubicBezTo>
                  <a:pt x="8335" y="17757"/>
                  <a:pt x="7581" y="18867"/>
                  <a:pt x="4624" y="19356"/>
                </a:cubicBezTo>
                <a:lnTo>
                  <a:pt x="627" y="20043"/>
                </a:lnTo>
                <a:cubicBezTo>
                  <a:pt x="627" y="20043"/>
                  <a:pt x="-463" y="20176"/>
                  <a:pt x="230" y="20754"/>
                </a:cubicBezTo>
                <a:cubicBezTo>
                  <a:pt x="230" y="20754"/>
                  <a:pt x="666" y="21176"/>
                  <a:pt x="1088" y="21302"/>
                </a:cubicBezTo>
                <a:cubicBezTo>
                  <a:pt x="1088" y="21302"/>
                  <a:pt x="1726" y="21590"/>
                  <a:pt x="3453" y="21205"/>
                </a:cubicBezTo>
                <a:lnTo>
                  <a:pt x="6406" y="20473"/>
                </a:lnTo>
                <a:cubicBezTo>
                  <a:pt x="6406" y="20473"/>
                  <a:pt x="8092" y="20229"/>
                  <a:pt x="8903" y="19346"/>
                </a:cubicBezTo>
                <a:lnTo>
                  <a:pt x="21137" y="432"/>
                </a:lnTo>
                <a:cubicBezTo>
                  <a:pt x="21137" y="432"/>
                  <a:pt x="20953" y="46"/>
                  <a:pt x="20360" y="4"/>
                </a:cubicBezTo>
                <a:close/>
              </a:path>
            </a:pathLst>
          </a:custGeom>
          <a:solidFill>
            <a:srgbClr val="FFFFFF"/>
          </a:solidFill>
          <a:ln w="25400">
            <a:solidFill>
              <a:srgbClr val="E2324C"/>
            </a:solidFill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B5160F"/>
                </a:solidFill>
              </a:defRPr>
            </a:pPr>
          </a:p>
        </p:txBody>
      </p:sp>
      <p:sp>
        <p:nvSpPr>
          <p:cNvPr id="10" name="Foliennummer"/>
          <p:cNvSpPr txBox="1"/>
          <p:nvPr>
            <p:ph type="sldNum" sz="quarter" idx="2"/>
          </p:nvPr>
        </p:nvSpPr>
        <p:spPr>
          <a:xfrm>
            <a:off x="200251" y="924083"/>
            <a:ext cx="210468" cy="197384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ctr">
              <a:defRPr sz="14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5"/>
    <p:sldLayoutId id="2147483650" r:id="rId6"/>
    <p:sldLayoutId id="2147483651" r:id="rId7"/>
    <p:sldLayoutId id="2147483652" r:id="rId8"/>
    <p:sldLayoutId id="2147483653" r:id="rId9"/>
  </p:sldLayoutIdLst>
  <p:transition xmlns:p14="http://schemas.microsoft.com/office/powerpoint/2010/main" spd="med" advClick="1"/>
  <p:txStyles>
    <p:titleStyle>
      <a:lvl1pPr marL="0" marR="0" indent="0" algn="l" defTabSz="64808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400" u="none">
          <a:solidFill>
            <a:srgbClr val="E2324C"/>
          </a:solidFill>
          <a:uFillTx/>
          <a:latin typeface="Arial"/>
          <a:ea typeface="Arial"/>
          <a:cs typeface="Arial"/>
          <a:sym typeface="Arial"/>
        </a:defRPr>
      </a:lvl1pPr>
      <a:lvl2pPr marL="0" marR="0" indent="0" algn="l" defTabSz="64808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400" u="none">
          <a:solidFill>
            <a:srgbClr val="E2324C"/>
          </a:solidFill>
          <a:uFillTx/>
          <a:latin typeface="Arial"/>
          <a:ea typeface="Arial"/>
          <a:cs typeface="Arial"/>
          <a:sym typeface="Arial"/>
        </a:defRPr>
      </a:lvl2pPr>
      <a:lvl3pPr marL="0" marR="0" indent="0" algn="l" defTabSz="64808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400" u="none">
          <a:solidFill>
            <a:srgbClr val="E2324C"/>
          </a:solidFill>
          <a:uFillTx/>
          <a:latin typeface="Arial"/>
          <a:ea typeface="Arial"/>
          <a:cs typeface="Arial"/>
          <a:sym typeface="Arial"/>
        </a:defRPr>
      </a:lvl3pPr>
      <a:lvl4pPr marL="0" marR="0" indent="0" algn="l" defTabSz="64808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400" u="none">
          <a:solidFill>
            <a:srgbClr val="E2324C"/>
          </a:solidFill>
          <a:uFillTx/>
          <a:latin typeface="Arial"/>
          <a:ea typeface="Arial"/>
          <a:cs typeface="Arial"/>
          <a:sym typeface="Arial"/>
        </a:defRPr>
      </a:lvl4pPr>
      <a:lvl5pPr marL="0" marR="0" indent="0" algn="l" defTabSz="64808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400" u="none">
          <a:solidFill>
            <a:srgbClr val="E2324C"/>
          </a:solidFill>
          <a:uFillTx/>
          <a:latin typeface="Arial"/>
          <a:ea typeface="Arial"/>
          <a:cs typeface="Arial"/>
          <a:sym typeface="Arial"/>
        </a:defRPr>
      </a:lvl5pPr>
      <a:lvl6pPr marL="0" marR="0" indent="0" algn="l" defTabSz="64808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400" u="none">
          <a:solidFill>
            <a:srgbClr val="E2324C"/>
          </a:solidFill>
          <a:uFillTx/>
          <a:latin typeface="Arial"/>
          <a:ea typeface="Arial"/>
          <a:cs typeface="Arial"/>
          <a:sym typeface="Arial"/>
        </a:defRPr>
      </a:lvl6pPr>
      <a:lvl7pPr marL="0" marR="0" indent="0" algn="l" defTabSz="64808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400" u="none">
          <a:solidFill>
            <a:srgbClr val="E2324C"/>
          </a:solidFill>
          <a:uFillTx/>
          <a:latin typeface="Arial"/>
          <a:ea typeface="Arial"/>
          <a:cs typeface="Arial"/>
          <a:sym typeface="Arial"/>
        </a:defRPr>
      </a:lvl7pPr>
      <a:lvl8pPr marL="0" marR="0" indent="0" algn="l" defTabSz="64808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400" u="none">
          <a:solidFill>
            <a:srgbClr val="E2324C"/>
          </a:solidFill>
          <a:uFillTx/>
          <a:latin typeface="Arial"/>
          <a:ea typeface="Arial"/>
          <a:cs typeface="Arial"/>
          <a:sym typeface="Arial"/>
        </a:defRPr>
      </a:lvl8pPr>
      <a:lvl9pPr marL="0" marR="0" indent="0" algn="l" defTabSz="64808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400" u="none">
          <a:solidFill>
            <a:srgbClr val="E2324C"/>
          </a:solidFill>
          <a:uFillTx/>
          <a:latin typeface="Arial"/>
          <a:ea typeface="Arial"/>
          <a:cs typeface="Arial"/>
          <a:sym typeface="Arial"/>
        </a:defRPr>
      </a:lvl9pPr>
    </p:titleStyle>
    <p:bodyStyle>
      <a:lvl1pPr marL="0" marR="0" indent="0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1pPr>
      <a:lvl2pPr marL="609230" marR="0" indent="-249229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18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2pPr>
      <a:lvl3pPr marL="989998" marR="0" indent="-269999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Tx/>
        <a:buSzPct val="100000"/>
        <a:buFontTx/>
        <a:buChar char="−"/>
        <a:tabLst/>
        <a:defRPr b="0" baseline="0" cap="none" i="0" spc="0" strike="noStrike" sz="18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3pPr>
      <a:lvl4pPr marL="1374544" marR="0" indent="-294545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Tx/>
        <a:buSzPct val="100000"/>
        <a:buFontTx/>
        <a:buChar char="o"/>
        <a:tabLst/>
        <a:defRPr b="0" baseline="0" cap="none" i="0" spc="0" strike="noStrike" sz="18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4pPr>
      <a:lvl5pPr marL="0" marR="0" indent="0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5pPr>
      <a:lvl6pPr marL="2514600" marR="0" indent="-228600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18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6pPr>
      <a:lvl7pPr marL="2971800" marR="0" indent="-228600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18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7pPr>
      <a:lvl8pPr marL="3429000" marR="0" indent="-228600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18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8pPr>
      <a:lvl9pPr marL="3886200" marR="0" indent="-228600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18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9pPr>
    </p:bodyStyle>
    <p:otherStyle>
      <a:lvl1pPr marL="0" marR="0" indent="0" algn="ctr" defTabSz="64808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ctr" defTabSz="64808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ctr" defTabSz="64808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ctr" defTabSz="64808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ctr" defTabSz="64808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ctr" defTabSz="64808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ctr" defTabSz="64808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ctr" defTabSz="64808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ctr" defTabSz="64808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Fußzeilenplatzhalter 2"/>
          <p:cNvSpPr txBox="1"/>
          <p:nvPr/>
        </p:nvSpPr>
        <p:spPr>
          <a:xfrm>
            <a:off x="879471" y="3882707"/>
            <a:ext cx="8658002" cy="23284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2000">
                <a:latin typeface="Arial"/>
                <a:ea typeface="Arial"/>
                <a:cs typeface="Arial"/>
                <a:sym typeface="Arial"/>
              </a:defRPr>
            </a:pPr>
          </a:p>
          <a:p>
            <a:pPr>
              <a:defRPr b="1" sz="2000">
                <a:latin typeface="Arial"/>
                <a:ea typeface="Arial"/>
                <a:cs typeface="Arial"/>
                <a:sym typeface="Arial"/>
              </a:defRPr>
            </a:pPr>
            <a:r>
              <a:t>Antonia Lea Windisch</a:t>
            </a:r>
          </a:p>
          <a:p>
            <a:pPr>
              <a:defRPr b="1" sz="2000">
                <a:latin typeface="Arial"/>
                <a:ea typeface="Arial"/>
                <a:cs typeface="Arial"/>
                <a:sym typeface="Arial"/>
              </a:defRPr>
            </a:pPr>
            <a:r>
              <a:t>Emily Thomas</a:t>
            </a:r>
          </a:p>
          <a:p>
            <a:pPr>
              <a:defRPr b="1" sz="2000">
                <a:latin typeface="Arial"/>
                <a:ea typeface="Arial"/>
                <a:cs typeface="Arial"/>
                <a:sym typeface="Arial"/>
              </a:defRPr>
            </a:pPr>
            <a:r>
              <a:t>Vincent Jakl</a:t>
            </a:r>
          </a:p>
          <a:p>
            <a:pPr>
              <a:defRPr sz="2000">
                <a:latin typeface="Arial"/>
                <a:ea typeface="Arial"/>
                <a:cs typeface="Arial"/>
                <a:sym typeface="Arial"/>
              </a:defRPr>
            </a:pPr>
          </a:p>
          <a:p>
            <a:pPr>
              <a:defRPr sz="2000">
                <a:latin typeface="Arial"/>
                <a:ea typeface="Arial"/>
                <a:cs typeface="Arial"/>
                <a:sym typeface="Arial"/>
              </a:defRPr>
            </a:pPr>
            <a:r>
              <a:t>Technische Universität Graz</a:t>
            </a:r>
          </a:p>
          <a:p>
            <a:pPr>
              <a:defRPr sz="2000">
                <a:latin typeface="Arial"/>
                <a:ea typeface="Arial"/>
                <a:cs typeface="Arial"/>
                <a:sym typeface="Arial"/>
              </a:defRPr>
            </a:pPr>
            <a:r>
              <a:t>Inffeldgasse</a:t>
            </a:r>
          </a:p>
          <a:p>
            <a:pPr>
              <a:defRPr sz="2000">
                <a:latin typeface="Arial"/>
                <a:ea typeface="Arial"/>
                <a:cs typeface="Arial"/>
                <a:sym typeface="Arial"/>
              </a:defRPr>
            </a:pPr>
            <a:r>
              <a:t>A 8010 Graz</a:t>
            </a:r>
          </a:p>
        </p:txBody>
      </p:sp>
      <p:sp>
        <p:nvSpPr>
          <p:cNvPr id="71" name="Titel 1"/>
          <p:cNvSpPr txBox="1"/>
          <p:nvPr>
            <p:ph type="title"/>
          </p:nvPr>
        </p:nvSpPr>
        <p:spPr>
          <a:xfrm>
            <a:off x="879471" y="1398587"/>
            <a:ext cx="8658002" cy="2426401"/>
          </a:xfrm>
          <a:prstGeom prst="rect">
            <a:avLst/>
          </a:prstGeom>
        </p:spPr>
        <p:txBody>
          <a:bodyPr/>
          <a:lstStyle/>
          <a:p>
            <a:pPr/>
            <a:r>
              <a:t>Knowledge Discovery and Data Mining 1 - Phase 1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Foliennummernplatzhalter 5"/>
          <p:cNvSpPr txBox="1"/>
          <p:nvPr>
            <p:ph type="sldNum" sz="quarter" idx="4294967295"/>
          </p:nvPr>
        </p:nvSpPr>
        <p:spPr>
          <a:xfrm>
            <a:off x="241985" y="924083"/>
            <a:ext cx="127001" cy="1973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74" name="Titel 1"/>
          <p:cNvSpPr txBox="1"/>
          <p:nvPr>
            <p:ph type="title"/>
          </p:nvPr>
        </p:nvSpPr>
        <p:spPr>
          <a:xfrm>
            <a:off x="880588" y="884237"/>
            <a:ext cx="11876400" cy="61411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D0305"/>
                </a:solidFill>
              </a:defRPr>
            </a:lvl1pPr>
          </a:lstStyle>
          <a:p>
            <a:pPr/>
            <a:r>
              <a:t>Approach</a:t>
            </a:r>
          </a:p>
        </p:txBody>
      </p:sp>
      <p:sp>
        <p:nvSpPr>
          <p:cNvPr id="75" name="Textplatzhalter 2"/>
          <p:cNvSpPr txBox="1"/>
          <p:nvPr>
            <p:ph type="body" sz="quarter" idx="1"/>
          </p:nvPr>
        </p:nvSpPr>
        <p:spPr>
          <a:xfrm>
            <a:off x="880588" y="349996"/>
            <a:ext cx="10187500" cy="286723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6" name="Preserve as much information as possible…"/>
          <p:cNvSpPr txBox="1"/>
          <p:nvPr/>
        </p:nvSpPr>
        <p:spPr>
          <a:xfrm>
            <a:off x="755880" y="1778013"/>
            <a:ext cx="12204299" cy="481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marL="260684" indent="-260684">
              <a:buSzPct val="100000"/>
              <a:buChar char="•"/>
            </a:pPr>
            <a:r>
              <a:t>Preserve as much information as possible</a:t>
            </a:r>
          </a:p>
          <a:p>
            <a:pPr marL="260684" indent="-260684">
              <a:buSzPct val="100000"/>
              <a:buChar char="•"/>
            </a:pPr>
            <a:r>
              <a:t>For columns that are contradictory to one another, keep the more relevant one </a:t>
            </a:r>
          </a:p>
          <a:p>
            <a:pPr marL="260684" indent="-260684">
              <a:buSzPct val="100000"/>
              <a:buChar char="•"/>
            </a:pPr>
            <a:r>
              <a:t>Use domain knowledge but due to synthesized data set accept some values one wouldn’t find in the real world </a:t>
            </a:r>
          </a:p>
          <a:p>
            <a:pPr marL="260684" indent="-260684">
              <a:buSzPct val="100000"/>
              <a:buChar char="•"/>
            </a:pPr>
            <a:r>
              <a:t>Diversity encouraged </a:t>
            </a:r>
          </a:p>
          <a:p>
            <a:pPr/>
          </a:p>
          <a:p>
            <a:pPr marL="260684" indent="-260684">
              <a:buSzPct val="100000"/>
              <a:buChar char="•"/>
            </a:pPr>
            <a:r>
              <a:t>Some assumptions taken were: </a:t>
            </a:r>
          </a:p>
          <a:p>
            <a:pPr lvl="1" marL="641684" indent="-260684">
              <a:buSzPct val="100000"/>
              <a:buChar char="•"/>
            </a:pPr>
            <a:r>
              <a:t>Time on ice portrayed in hours while power play time in seconds since a lot of</a:t>
            </a:r>
          </a:p>
          <a:p>
            <a:pPr lvl="1" indent="228600"/>
            <a:r>
              <a:t>     people have higher power play time than time on ice</a:t>
            </a:r>
          </a:p>
          <a:p>
            <a:pPr lvl="1" marL="641684" indent="-260684">
              <a:buSzPct val="100000"/>
              <a:buChar char="•"/>
            </a:pPr>
            <a:r>
              <a:t>Penalty kill time portrayed in minutes and changed to seconds </a:t>
            </a:r>
          </a:p>
          <a:p>
            <a:pPr lvl="1" marL="641684" indent="-260684">
              <a:buSzPct val="100000"/>
              <a:buChar char="•"/>
            </a:pPr>
            <a:r>
              <a:t>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="0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Foliennummernplatzhalter 5"/>
          <p:cNvSpPr txBox="1"/>
          <p:nvPr>
            <p:ph type="sldNum" sz="quarter" idx="4294967295"/>
          </p:nvPr>
        </p:nvSpPr>
        <p:spPr>
          <a:xfrm>
            <a:off x="239839" y="924083"/>
            <a:ext cx="131293" cy="1973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79" name="Textplatzhalter 1"/>
          <p:cNvSpPr txBox="1"/>
          <p:nvPr>
            <p:ph type="body" sz="quarter" idx="1"/>
          </p:nvPr>
        </p:nvSpPr>
        <p:spPr>
          <a:xfrm>
            <a:off x="880588" y="349996"/>
            <a:ext cx="10187500" cy="286723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80" name="Titel 3"/>
          <p:cNvSpPr txBox="1"/>
          <p:nvPr>
            <p:ph type="title"/>
          </p:nvPr>
        </p:nvSpPr>
        <p:spPr>
          <a:xfrm>
            <a:off x="880588" y="884237"/>
            <a:ext cx="11876400" cy="1220402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</a:lstStyle>
          <a:p>
            <a:pPr/>
            <a:r>
              <a:t>Preprocessing</a:t>
            </a:r>
          </a:p>
        </p:txBody>
      </p:sp>
      <p:sp>
        <p:nvSpPr>
          <p:cNvPr id="81" name="Discrepancy in depiction of gender values: f/ female , m/male…"/>
          <p:cNvSpPr txBox="1"/>
          <p:nvPr/>
        </p:nvSpPr>
        <p:spPr>
          <a:xfrm>
            <a:off x="521055" y="1493077"/>
            <a:ext cx="10473813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200">
                <a:latin typeface="Aptos"/>
                <a:ea typeface="Aptos"/>
                <a:cs typeface="Aptos"/>
                <a:sym typeface="Aptos"/>
              </a:defRPr>
            </a:pPr>
            <a:r>
              <a:t>Discrepancy in depiction of gender values: f/ female , m/male</a:t>
            </a:r>
          </a:p>
          <a:p>
            <a:pPr defTabSz="914400">
              <a:lnSpc>
                <a:spcPct val="90000"/>
              </a:lnSpc>
              <a:spcBef>
                <a:spcPts val="1000"/>
              </a:spcBef>
              <a:defRPr sz="2200">
                <a:latin typeface="Aptos"/>
                <a:ea typeface="Aptos"/>
                <a:cs typeface="Aptos"/>
                <a:sym typeface="Aptos"/>
              </a:defRPr>
            </a:pPr>
            <a:r>
              <a:t>-&gt; Normalized gender mapping </a:t>
            </a:r>
          </a:p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200">
                <a:latin typeface="Aptos"/>
                <a:ea typeface="Aptos"/>
                <a:cs typeface="Aptos"/>
                <a:sym typeface="Aptos"/>
              </a:defRPr>
            </a:pPr>
            <a:r>
              <a:t>Discrepancy in depiction of city and country names: Austria / austria etc.</a:t>
            </a:r>
          </a:p>
          <a:p>
            <a:pPr defTabSz="914400">
              <a:lnSpc>
                <a:spcPct val="90000"/>
              </a:lnSpc>
              <a:spcBef>
                <a:spcPts val="1000"/>
              </a:spcBef>
              <a:defRPr sz="2200">
                <a:latin typeface="Aptos"/>
                <a:ea typeface="Aptos"/>
                <a:cs typeface="Aptos"/>
                <a:sym typeface="Aptos"/>
              </a:defRPr>
            </a:pPr>
            <a:r>
              <a:t>-&gt; Normalized values to lowercase </a:t>
            </a:r>
          </a:p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200">
                <a:latin typeface="Aptos"/>
                <a:ea typeface="Aptos"/>
                <a:cs typeface="Aptos"/>
                <a:sym typeface="Aptos"/>
              </a:defRPr>
            </a:pPr>
            <a:r>
              <a:t>Internationals IDs from dataset id_card_0 refactored from roman to Arab numerals</a:t>
            </a:r>
          </a:p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200">
                <a:latin typeface="Aptos"/>
                <a:ea typeface="Aptos"/>
                <a:cs typeface="Aptos"/>
                <a:sym typeface="Aptos"/>
              </a:defRPr>
            </a:pPr>
            <a:r>
              <a:t>Suspicious amount of first names ended on „ius“, interpreted that as an mistake</a:t>
            </a:r>
          </a:p>
          <a:p>
            <a:pPr defTabSz="914400">
              <a:lnSpc>
                <a:spcPct val="90000"/>
              </a:lnSpc>
              <a:spcBef>
                <a:spcPts val="1000"/>
              </a:spcBef>
              <a:defRPr sz="2200">
                <a:latin typeface="Aptos"/>
                <a:ea typeface="Aptos"/>
                <a:cs typeface="Aptos"/>
                <a:sym typeface="Aptos"/>
              </a:defRPr>
            </a:pPr>
            <a:r>
              <a:t>-&gt; removed all the ius endings</a:t>
            </a:r>
          </a:p>
          <a:p>
            <a:pPr marL="240631" indent="-240631" defTabSz="914400">
              <a:lnSpc>
                <a:spcPct val="90000"/>
              </a:lnSpc>
              <a:spcBef>
                <a:spcPts val="1000"/>
              </a:spcBef>
              <a:buSzPct val="100000"/>
              <a:buChar char="•"/>
              <a:defRPr sz="2200">
                <a:latin typeface="Aptos"/>
                <a:ea typeface="Aptos"/>
                <a:cs typeface="Aptos"/>
                <a:sym typeface="Aptos"/>
              </a:defRPr>
            </a:pPr>
            <a:r>
              <a:t>Outliers with save percentage higher than 100 percent</a:t>
            </a:r>
          </a:p>
          <a:p>
            <a:pPr defTabSz="914400">
              <a:lnSpc>
                <a:spcPct val="90000"/>
              </a:lnSpc>
              <a:spcBef>
                <a:spcPts val="1000"/>
              </a:spcBef>
              <a:defRPr sz="2200">
                <a:latin typeface="Aptos"/>
                <a:ea typeface="Aptos"/>
                <a:cs typeface="Aptos"/>
                <a:sym typeface="Aptos"/>
              </a:defRPr>
            </a:pPr>
            <a:r>
              <a:t>-&gt; normalized to max value 100</a:t>
            </a:r>
          </a:p>
          <a:p>
            <a:pPr defTabSz="914400">
              <a:lnSpc>
                <a:spcPct val="90000"/>
              </a:lnSpc>
              <a:spcBef>
                <a:spcPts val="1000"/>
              </a:spcBef>
              <a:defRPr sz="2200">
                <a:latin typeface="Aptos"/>
                <a:ea typeface="Aptos"/>
                <a:cs typeface="Aptos"/>
                <a:sym typeface="Aptos"/>
              </a:defRPr>
            </a:pPr>
            <a:r>
              <a:t>Normalized height and weight for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reprocessing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rPr>
                <a:solidFill>
                  <a:srgbClr val="000000"/>
                </a:solidFill>
              </a:rPr>
              <a:t>Preprocessing</a:t>
            </a:r>
            <a:r>
              <a:t> </a:t>
            </a:r>
          </a:p>
        </p:txBody>
      </p:sp>
      <p:sp>
        <p:nvSpPr>
          <p:cNvPr id="84" name="Zum Bearbeiten doppelklicken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85" name="Discrepancies found:…"/>
          <p:cNvSpPr txBox="1"/>
          <p:nvPr/>
        </p:nvSpPr>
        <p:spPr>
          <a:xfrm>
            <a:off x="809357" y="1564862"/>
            <a:ext cx="6696120" cy="3418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2400"/>
            </a:pPr>
            <a:r>
              <a:t>Discrepancies found: </a:t>
            </a:r>
          </a:p>
          <a:p>
            <a:pPr marL="260684" indent="-260684">
              <a:buSzPct val="100000"/>
              <a:buChar char="•"/>
              <a:defRPr sz="2400"/>
            </a:pPr>
            <a:r>
              <a:t>Depiction of gender values: f/female , m/male</a:t>
            </a:r>
          </a:p>
          <a:p>
            <a:pPr marL="260684" indent="-260684">
              <a:buSzPct val="100000"/>
              <a:buChar char="•"/>
              <a:defRPr sz="2400"/>
            </a:pPr>
            <a:r>
              <a:t>Country and City names: Austria / austria</a:t>
            </a:r>
          </a:p>
          <a:p>
            <a:pPr marL="260684" indent="-260684">
              <a:buSzPct val="100000"/>
              <a:buChar char="•"/>
              <a:defRPr sz="2400"/>
            </a:pPr>
            <a:r>
              <a:t>Weight and height: kg/no value, cm/m/no value</a:t>
            </a:r>
          </a:p>
          <a:p>
            <a:pPr marL="260684" indent="-260684">
              <a:buSzPct val="100000"/>
              <a:buChar char="•"/>
              <a:defRPr sz="2400"/>
            </a:pPr>
            <a:r>
              <a:t>Fitness level </a:t>
            </a:r>
          </a:p>
          <a:p>
            <a:pPr marL="260684" indent="-260684">
              <a:buSzPct val="100000"/>
              <a:buChar char="•"/>
              <a:defRPr sz="2400"/>
            </a:pPr>
            <a:r>
              <a:t>Percentage sign in body fat</a:t>
            </a:r>
          </a:p>
          <a:p>
            <a:pPr>
              <a:defRPr sz="2300"/>
            </a:pPr>
          </a:p>
          <a:p>
            <a:pPr marL="260684" indent="-260684">
              <a:buSzPct val="100000"/>
              <a:buChar char="•"/>
              <a:defRPr sz="2500"/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Zum Bearbeiten doppelklicken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88" name="Preprocessing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Preprocessing</a:t>
            </a:r>
          </a:p>
        </p:txBody>
      </p:sp>
      <p:sp>
        <p:nvSpPr>
          <p:cNvPr id="89" name="Identified quality issues in the data:…"/>
          <p:cNvSpPr txBox="1"/>
          <p:nvPr/>
        </p:nvSpPr>
        <p:spPr>
          <a:xfrm>
            <a:off x="809357" y="1590590"/>
            <a:ext cx="11709966" cy="37769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Identified quality issues in the data:</a:t>
            </a:r>
          </a:p>
          <a:p>
            <a:pPr marL="260684" indent="-260684">
              <a:buSzPct val="100000"/>
              <a:buChar char="•"/>
            </a:pPr>
            <a:r>
              <a:t>Save percentages greater than 100</a:t>
            </a:r>
          </a:p>
          <a:p>
            <a:pPr marL="260684" indent="-260684">
              <a:buSzPct val="100000"/>
              <a:buChar char="•"/>
            </a:pPr>
            <a:r>
              <a:t>Suspicious amount of first names ending in „ius“</a:t>
            </a:r>
          </a:p>
          <a:p>
            <a:pPr marL="260684" indent="-260684">
              <a:buSzPct val="100000"/>
              <a:buChar char="•"/>
            </a:pPr>
            <a:r>
              <a:t>International ids in roman numerals</a:t>
            </a:r>
          </a:p>
          <a:p>
            <a:pPr marL="260684" indent="-260684">
              <a:buSzPct val="100000"/>
              <a:buChar char="•"/>
            </a:pPr>
            <a:r>
              <a:t>37 rows with missing values</a:t>
            </a:r>
          </a:p>
          <a:p>
            <a:pPr marL="260684" indent="-260684">
              <a:buSzPct val="100000"/>
              <a:buChar char="•"/>
            </a:pPr>
            <a:r>
              <a:t>Age outliers found upon inspection, decided on upper bound of oldest person </a:t>
            </a:r>
          </a:p>
          <a:p>
            <a:pPr marL="260684" indent="-260684">
              <a:buSzPct val="100000"/>
              <a:buChar char="•"/>
            </a:pPr>
            <a:r>
              <a:t>alive due to diversity encouragement </a:t>
            </a:r>
          </a:p>
          <a:p>
            <a:pPr defTabSz="914400">
              <a:lnSpc>
                <a:spcPct val="90000"/>
              </a:lnSpc>
              <a:spcBef>
                <a:spcPts val="1000"/>
              </a:spcBef>
              <a:defRPr sz="2300">
                <a:latin typeface="Aptos"/>
                <a:ea typeface="Aptos"/>
                <a:cs typeface="Aptos"/>
                <a:sym typeface="Aptos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Foliennummernplatzhalter 5"/>
          <p:cNvSpPr txBox="1"/>
          <p:nvPr>
            <p:ph type="sldNum" sz="quarter" idx="4294967295"/>
          </p:nvPr>
        </p:nvSpPr>
        <p:spPr>
          <a:xfrm>
            <a:off x="241985" y="924083"/>
            <a:ext cx="127001" cy="1973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92" name="Titel 1"/>
          <p:cNvSpPr txBox="1"/>
          <p:nvPr>
            <p:ph type="title"/>
          </p:nvPr>
        </p:nvSpPr>
        <p:spPr>
          <a:xfrm>
            <a:off x="880588" y="884237"/>
            <a:ext cx="11876400" cy="614118"/>
          </a:xfrm>
          <a:prstGeom prst="rect">
            <a:avLst/>
          </a:prstGeom>
        </p:spPr>
        <p:txBody>
          <a:bodyPr/>
          <a:lstStyle/>
          <a:p>
            <a:pPr/>
            <a:r>
              <a:t>Data relationships</a:t>
            </a:r>
          </a:p>
        </p:txBody>
      </p:sp>
      <p:sp>
        <p:nvSpPr>
          <p:cNvPr id="93" name="Textplatzhalter 2"/>
          <p:cNvSpPr txBox="1"/>
          <p:nvPr>
            <p:ph type="body" sz="quarter" idx="1"/>
          </p:nvPr>
        </p:nvSpPr>
        <p:spPr>
          <a:xfrm>
            <a:off x="880588" y="349996"/>
            <a:ext cx="10187500" cy="286723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Foliennummernplatzhalter 5"/>
          <p:cNvSpPr txBox="1"/>
          <p:nvPr>
            <p:ph type="sldNum" sz="quarter" idx="4294967295"/>
          </p:nvPr>
        </p:nvSpPr>
        <p:spPr>
          <a:xfrm>
            <a:off x="241985" y="924083"/>
            <a:ext cx="127001" cy="1973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96" name="Titel 1"/>
          <p:cNvSpPr txBox="1"/>
          <p:nvPr>
            <p:ph type="title"/>
          </p:nvPr>
        </p:nvSpPr>
        <p:spPr>
          <a:xfrm>
            <a:off x="880588" y="884237"/>
            <a:ext cx="11876400" cy="1220402"/>
          </a:xfrm>
          <a:prstGeom prst="rect">
            <a:avLst/>
          </a:prstGeom>
        </p:spPr>
        <p:txBody>
          <a:bodyPr/>
          <a:lstStyle/>
          <a:p>
            <a:pPr/>
            <a:r>
              <a:t>Data relationships</a:t>
            </a:r>
          </a:p>
        </p:txBody>
      </p:sp>
      <p:sp>
        <p:nvSpPr>
          <p:cNvPr id="97" name="Textplatzhalter 2"/>
          <p:cNvSpPr txBox="1"/>
          <p:nvPr>
            <p:ph type="body" sz="quarter" idx="1"/>
          </p:nvPr>
        </p:nvSpPr>
        <p:spPr>
          <a:xfrm>
            <a:off x="880588" y="349996"/>
            <a:ext cx="10187500" cy="286723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Data cleaning"/>
          <p:cNvSpPr txBox="1"/>
          <p:nvPr>
            <p:ph type="title"/>
          </p:nvPr>
        </p:nvSpPr>
        <p:spPr>
          <a:xfrm>
            <a:off x="880588" y="884237"/>
            <a:ext cx="11876400" cy="61411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40102"/>
                </a:solidFill>
              </a:defRPr>
            </a:lvl1pPr>
          </a:lstStyle>
          <a:p>
            <a:pPr/>
            <a:r>
              <a:t>Data cleaning</a:t>
            </a:r>
          </a:p>
        </p:txBody>
      </p:sp>
      <p:sp>
        <p:nvSpPr>
          <p:cNvPr id="100" name="Zum Bearbeiten doppelklicken"/>
          <p:cNvSpPr txBox="1"/>
          <p:nvPr>
            <p:ph type="body" sz="quarter" idx="1"/>
          </p:nvPr>
        </p:nvSpPr>
        <p:spPr>
          <a:xfrm>
            <a:off x="880588" y="349996"/>
            <a:ext cx="10187500" cy="286723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01" name="Foliennummer"/>
          <p:cNvSpPr txBox="1"/>
          <p:nvPr>
            <p:ph type="sldNum" sz="quarter" idx="4294967295"/>
          </p:nvPr>
        </p:nvSpPr>
        <p:spPr>
          <a:xfrm>
            <a:off x="241984" y="924083"/>
            <a:ext cx="127001" cy="1973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102" name="We first looked at each Dataset separately to identify problems:…"/>
          <p:cNvSpPr txBox="1"/>
          <p:nvPr/>
        </p:nvSpPr>
        <p:spPr>
          <a:xfrm>
            <a:off x="196729" y="1663700"/>
            <a:ext cx="12969239" cy="4391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2500">
                <a:latin typeface="Arial"/>
                <a:ea typeface="Arial"/>
                <a:cs typeface="Arial"/>
                <a:sym typeface="Arial"/>
              </a:defRPr>
            </a:pPr>
            <a:r>
              <a:t>First consider each Dataset separately to identify problems:</a:t>
            </a:r>
          </a:p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300">
                <a:latin typeface="Aptos"/>
                <a:ea typeface="Aptos"/>
                <a:cs typeface="Aptos"/>
                <a:sym typeface="Aptos"/>
              </a:defRPr>
            </a:pPr>
            <a:r>
              <a:t>Identity_card: </a:t>
            </a:r>
          </a:p>
          <a:p>
            <a:pPr lvl="1" marL="6858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300">
                <a:latin typeface="Aptos"/>
                <a:ea typeface="Aptos"/>
                <a:cs typeface="Aptos"/>
                <a:sym typeface="Aptos"/>
              </a:defRPr>
            </a:pPr>
            <a:r>
              <a:t>birth city and nationality often didn’t match, for clarity decided to drop birth city due to </a:t>
            </a:r>
          </a:p>
          <a:p>
            <a:pPr lvl="3" indent="685800" defTabSz="914400">
              <a:lnSpc>
                <a:spcPct val="90000"/>
              </a:lnSpc>
              <a:spcBef>
                <a:spcPts val="1000"/>
              </a:spcBef>
              <a:defRPr sz="2300">
                <a:latin typeface="Aptos"/>
                <a:ea typeface="Aptos"/>
                <a:cs typeface="Aptos"/>
                <a:sym typeface="Aptos"/>
              </a:defRPr>
            </a:pPr>
            <a:r>
              <a:t>higher relevance of nationality for player’s visas etc. </a:t>
            </a:r>
          </a:p>
          <a:p>
            <a:pPr lvl="1" marL="6858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300">
                <a:latin typeface="Aptos"/>
                <a:ea typeface="Aptos"/>
                <a:cs typeface="Aptos"/>
                <a:sym typeface="Aptos"/>
              </a:defRPr>
            </a:pPr>
            <a:r>
              <a:t>Age outliers found upon inspection, up to ≈300 years old, decided on the upper bound of 122  the oldest person alive on earth (122 years)</a:t>
            </a:r>
          </a:p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300">
                <a:latin typeface="Aptos"/>
                <a:ea typeface="Aptos"/>
                <a:cs typeface="Aptos"/>
                <a:sym typeface="Aptos"/>
              </a:defRPr>
            </a:pPr>
            <a:r>
              <a:t>Scouting notes:</a:t>
            </a:r>
          </a:p>
          <a:p>
            <a:pPr lvl="1" marL="6858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300">
                <a:latin typeface="Aptos"/>
                <a:ea typeface="Aptos"/>
                <a:cs typeface="Aptos"/>
                <a:sym typeface="Aptos"/>
              </a:defRPr>
            </a:pPr>
            <a:r>
              <a:t>Some players had more years pro than years played in general, these were dropped</a:t>
            </a:r>
          </a:p>
          <a:p>
            <a:pPr lvl="1" marL="6858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300">
                <a:latin typeface="Aptos"/>
                <a:ea typeface="Aptos"/>
                <a:cs typeface="Aptos"/>
                <a:sym typeface="Aptos"/>
              </a:defRPr>
            </a:pPr>
            <a:r>
              <a:t>Dropped players with 0 years of experience but experience level higher than rookie </a:t>
            </a:r>
          </a:p>
          <a:p>
            <a:pPr lvl="1" marL="6858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300">
                <a:latin typeface="Aptos"/>
                <a:ea typeface="Aptos"/>
                <a:cs typeface="Aptos"/>
                <a:sym typeface="Aptos"/>
              </a:defRPr>
            </a:pPr>
            <a:r>
              <a:t>Filled NaN values for scout notes with „no notes“ and for dominant hand with „none“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Data cleaning"/>
          <p:cNvSpPr txBox="1"/>
          <p:nvPr>
            <p:ph type="title"/>
          </p:nvPr>
        </p:nvSpPr>
        <p:spPr>
          <a:xfrm>
            <a:off x="880588" y="884237"/>
            <a:ext cx="11876400" cy="61411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40102"/>
                </a:solidFill>
              </a:defRPr>
            </a:lvl1pPr>
          </a:lstStyle>
          <a:p>
            <a:pPr/>
            <a:r>
              <a:t>Data cleaning</a:t>
            </a:r>
          </a:p>
        </p:txBody>
      </p:sp>
      <p:sp>
        <p:nvSpPr>
          <p:cNvPr id="105" name="Zum Bearbeiten doppelklicken"/>
          <p:cNvSpPr txBox="1"/>
          <p:nvPr>
            <p:ph type="body" sz="quarter" idx="1"/>
          </p:nvPr>
        </p:nvSpPr>
        <p:spPr>
          <a:xfrm>
            <a:off x="880588" y="349996"/>
            <a:ext cx="10187500" cy="286723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06" name="Foliennummer"/>
          <p:cNvSpPr txBox="1"/>
          <p:nvPr>
            <p:ph type="sldNum" sz="quarter" idx="4294967295"/>
          </p:nvPr>
        </p:nvSpPr>
        <p:spPr>
          <a:xfrm>
            <a:off x="241984" y="924083"/>
            <a:ext cx="127001" cy="1973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107" name="Performance:…"/>
          <p:cNvSpPr txBox="1"/>
          <p:nvPr/>
        </p:nvSpPr>
        <p:spPr>
          <a:xfrm>
            <a:off x="500614" y="1778013"/>
            <a:ext cx="12307164" cy="5298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marL="260684" indent="-260684">
              <a:buSzPct val="100000"/>
              <a:buChar char="•"/>
              <a:defRPr sz="2300"/>
            </a:pPr>
            <a:r>
              <a:t>Performance:</a:t>
            </a:r>
          </a:p>
          <a:p>
            <a:pPr lvl="1" marL="641684" indent="-260684">
              <a:buSzPct val="100000"/>
              <a:buChar char="•"/>
              <a:defRPr sz="2300"/>
            </a:pPr>
            <a:r>
              <a:t>Puck touches, time between penalties and goals total were dropped due to inconsistency </a:t>
            </a:r>
          </a:p>
          <a:p>
            <a:pPr lvl="1" indent="228600">
              <a:defRPr sz="2300"/>
            </a:pPr>
            <a:r>
              <a:t>     with other columns </a:t>
            </a:r>
          </a:p>
          <a:p>
            <a:pPr lvl="1" marL="641684" indent="-260684">
              <a:buSzPct val="100000"/>
              <a:buChar char="•"/>
              <a:defRPr sz="2300"/>
            </a:pPr>
            <a:r>
              <a:t>puck possession time reformatted from minutes to seconds </a:t>
            </a:r>
          </a:p>
          <a:p>
            <a:pPr lvl="1" marL="641684" indent="-260684">
              <a:buSzPct val="100000"/>
              <a:buChar char="•"/>
              <a:defRPr sz="2300"/>
            </a:pPr>
            <a:r>
              <a:t>Set penalty minutes to 0 for players without any saved penalties </a:t>
            </a:r>
          </a:p>
          <a:p>
            <a:pPr lvl="1" marL="641684" indent="-260684">
              <a:buSzPct val="100000"/>
              <a:buChar char="•"/>
              <a:defRPr sz="2300"/>
            </a:pPr>
            <a:r>
              <a:t>Newly calculated shooting percentage since values beforehand didn’t seem </a:t>
            </a:r>
          </a:p>
          <a:p>
            <a:pPr lvl="2" indent="457200">
              <a:defRPr sz="2300"/>
            </a:pPr>
            <a:r>
              <a:t>  sensible -&gt; Equation: shooting percentage = goals/ number of shots * 100</a:t>
            </a:r>
          </a:p>
          <a:p>
            <a:pPr lvl="2" indent="457200">
              <a:defRPr sz="2300"/>
            </a:pPr>
          </a:p>
          <a:p>
            <a:pPr marL="260684" indent="-260684">
              <a:buSzPct val="100000"/>
              <a:buChar char="•"/>
            </a:pPr>
            <a:r>
              <a:t>Medical </a:t>
            </a:r>
          </a:p>
          <a:p>
            <a:pPr lvl="1" marL="641684" indent="-260684">
              <a:buSzPct val="100000"/>
              <a:buChar char="•"/>
            </a:pPr>
          </a:p>
          <a:p>
            <a:pPr lvl="1" marL="641684" indent="-260684">
              <a:buSzPct val="100000"/>
              <a:buChar char="•"/>
            </a:pPr>
          </a:p>
          <a:p>
            <a:pPr lvl="1" marL="641684" indent="-260684">
              <a:buSzPct val="100000"/>
              <a:buChar char="•"/>
            </a:pPr>
          </a:p>
          <a:p>
            <a:pPr marL="260684" indent="-260684">
              <a:buSzPct val="100000"/>
              <a:buChar char="•"/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Most important findings"/>
          <p:cNvSpPr txBox="1"/>
          <p:nvPr>
            <p:ph type="title"/>
          </p:nvPr>
        </p:nvSpPr>
        <p:spPr>
          <a:xfrm>
            <a:off x="880588" y="884237"/>
            <a:ext cx="11876400" cy="61411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40102"/>
                </a:solidFill>
              </a:defRPr>
            </a:lvl1pPr>
          </a:lstStyle>
          <a:p>
            <a:pPr/>
            <a:r>
              <a:t>Most important findings</a:t>
            </a:r>
          </a:p>
        </p:txBody>
      </p:sp>
      <p:sp>
        <p:nvSpPr>
          <p:cNvPr id="110" name="Zum Bearbeiten doppelklicken"/>
          <p:cNvSpPr txBox="1"/>
          <p:nvPr>
            <p:ph type="body" sz="quarter" idx="1"/>
          </p:nvPr>
        </p:nvSpPr>
        <p:spPr>
          <a:xfrm>
            <a:off x="880588" y="349996"/>
            <a:ext cx="10187500" cy="286723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11" name="Foliennummer"/>
          <p:cNvSpPr txBox="1"/>
          <p:nvPr>
            <p:ph type="sldNum" sz="quarter" idx="4294967295"/>
          </p:nvPr>
        </p:nvSpPr>
        <p:spPr>
          <a:xfrm>
            <a:off x="241984" y="924083"/>
            <a:ext cx="127001" cy="1973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IWT">
  <a:themeElements>
    <a:clrScheme name="IW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IWT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IW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64808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26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64808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26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IWT">
  <a:themeElements>
    <a:clrScheme name="IW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IWT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IW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64808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26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64808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26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