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928600" cy="73152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64808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" name="Shape 6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48080" latinLnBrk="0">
      <a:defRPr sz="1700">
        <a:latin typeface="+mj-lt"/>
        <a:ea typeface="+mj-ea"/>
        <a:cs typeface="+mj-cs"/>
        <a:sym typeface="Calibri"/>
      </a:defRPr>
    </a:lvl1pPr>
    <a:lvl2pPr indent="228600" defTabSz="648080" latinLnBrk="0">
      <a:defRPr sz="1700">
        <a:latin typeface="+mj-lt"/>
        <a:ea typeface="+mj-ea"/>
        <a:cs typeface="+mj-cs"/>
        <a:sym typeface="Calibri"/>
      </a:defRPr>
    </a:lvl2pPr>
    <a:lvl3pPr indent="457200" defTabSz="648080" latinLnBrk="0">
      <a:defRPr sz="1700">
        <a:latin typeface="+mj-lt"/>
        <a:ea typeface="+mj-ea"/>
        <a:cs typeface="+mj-cs"/>
        <a:sym typeface="Calibri"/>
      </a:defRPr>
    </a:lvl3pPr>
    <a:lvl4pPr indent="685800" defTabSz="648080" latinLnBrk="0">
      <a:defRPr sz="1700">
        <a:latin typeface="+mj-lt"/>
        <a:ea typeface="+mj-ea"/>
        <a:cs typeface="+mj-cs"/>
        <a:sym typeface="Calibri"/>
      </a:defRPr>
    </a:lvl4pPr>
    <a:lvl5pPr indent="914400" defTabSz="648080" latinLnBrk="0">
      <a:defRPr sz="1700">
        <a:latin typeface="+mj-lt"/>
        <a:ea typeface="+mj-ea"/>
        <a:cs typeface="+mj-cs"/>
        <a:sym typeface="Calibri"/>
      </a:defRPr>
    </a:lvl5pPr>
    <a:lvl6pPr indent="1143000" defTabSz="648080" latinLnBrk="0">
      <a:defRPr sz="1700">
        <a:latin typeface="+mj-lt"/>
        <a:ea typeface="+mj-ea"/>
        <a:cs typeface="+mj-cs"/>
        <a:sym typeface="Calibri"/>
      </a:defRPr>
    </a:lvl6pPr>
    <a:lvl7pPr indent="1371600" defTabSz="648080" latinLnBrk="0">
      <a:defRPr sz="1700">
        <a:latin typeface="+mj-lt"/>
        <a:ea typeface="+mj-ea"/>
        <a:cs typeface="+mj-cs"/>
        <a:sym typeface="Calibri"/>
      </a:defRPr>
    </a:lvl7pPr>
    <a:lvl8pPr indent="1600200" defTabSz="648080" latinLnBrk="0">
      <a:defRPr sz="1700">
        <a:latin typeface="+mj-lt"/>
        <a:ea typeface="+mj-ea"/>
        <a:cs typeface="+mj-cs"/>
        <a:sym typeface="Calibri"/>
      </a:defRPr>
    </a:lvl8pPr>
    <a:lvl9pPr indent="1828800" defTabSz="648080" latinLnBrk="0">
      <a:defRPr sz="17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cover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" descr="Bild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938126" cy="6706139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extfeld 271"/>
          <p:cNvSpPr txBox="1"/>
          <p:nvPr/>
        </p:nvSpPr>
        <p:spPr>
          <a:xfrm>
            <a:off x="10569532" y="1218837"/>
            <a:ext cx="2037691" cy="754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spc="28" sz="1700">
                <a:latin typeface="Arial"/>
                <a:ea typeface="Arial"/>
                <a:cs typeface="Arial"/>
                <a:sym typeface="Arial"/>
              </a:defRPr>
            </a:pPr>
            <a:r>
              <a:t>WISSEN</a:t>
            </a:r>
            <a:endParaRPr spc="39" sz="2400"/>
          </a:p>
          <a:p>
            <a:pPr algn="r">
              <a:defRPr spc="28" sz="1700">
                <a:latin typeface="Arial"/>
                <a:ea typeface="Arial"/>
                <a:cs typeface="Arial"/>
                <a:sym typeface="Arial"/>
              </a:defRPr>
            </a:pPr>
            <a:r>
              <a:t>TECHNIK</a:t>
            </a:r>
            <a:endParaRPr spc="39" sz="2400"/>
          </a:p>
          <a:p>
            <a:pPr algn="r">
              <a:defRPr spc="28" sz="1700">
                <a:latin typeface="Arial"/>
                <a:ea typeface="Arial"/>
                <a:cs typeface="Arial"/>
                <a:sym typeface="Arial"/>
              </a:defRPr>
            </a:pPr>
            <a:r>
              <a:t>LEIDENSCHAFT</a:t>
            </a:r>
          </a:p>
        </p:txBody>
      </p:sp>
      <p:sp>
        <p:nvSpPr>
          <p:cNvPr id="18" name="Klicken und eine Überschrift hinzufügen"/>
          <p:cNvSpPr txBox="1"/>
          <p:nvPr>
            <p:ph type="title" hasCustomPrompt="1"/>
          </p:nvPr>
        </p:nvSpPr>
        <p:spPr>
          <a:xfrm>
            <a:off x="879471" y="1398587"/>
            <a:ext cx="8658002" cy="2426401"/>
          </a:xfrm>
          <a:prstGeom prst="rect">
            <a:avLst/>
          </a:prstGeom>
        </p:spPr>
        <p:txBody>
          <a:bodyPr anchor="b"/>
          <a:lstStyle>
            <a:lvl1pPr>
              <a:defRPr b="1" sz="4500">
                <a:solidFill>
                  <a:srgbClr val="F70146"/>
                </a:solidFill>
              </a:defRPr>
            </a:lvl1pPr>
          </a:lstStyle>
          <a:p>
            <a:pPr/>
            <a:r>
              <a:t>Klicken und eine Überschrift hinzufügen</a:t>
            </a:r>
          </a:p>
        </p:txBody>
      </p:sp>
      <p:sp>
        <p:nvSpPr>
          <p:cNvPr id="19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title_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27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28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title_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36" name="Titeltext"/>
          <p:cNvSpPr txBox="1"/>
          <p:nvPr>
            <p:ph type="title"/>
          </p:nvPr>
        </p:nvSpPr>
        <p:spPr>
          <a:xfrm>
            <a:off x="880588" y="884237"/>
            <a:ext cx="11876400" cy="1220402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37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2columns_title_1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el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45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46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WT_2columns_title_2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eltext"/>
          <p:cNvSpPr txBox="1"/>
          <p:nvPr>
            <p:ph type="title"/>
          </p:nvPr>
        </p:nvSpPr>
        <p:spPr>
          <a:xfrm>
            <a:off x="880588" y="884237"/>
            <a:ext cx="11876400" cy="1220402"/>
          </a:xfrm>
          <a:prstGeom prst="rect">
            <a:avLst/>
          </a:prstGeom>
        </p:spPr>
        <p:txBody>
          <a:bodyPr/>
          <a:lstStyle/>
          <a:p>
            <a:pPr/>
            <a:r>
              <a:t>Titeltext</a:t>
            </a:r>
          </a:p>
        </p:txBody>
      </p:sp>
      <p:sp>
        <p:nvSpPr>
          <p:cNvPr id="54" name="Textebene 1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5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hyperlink" Target="mailto:@tugraz.at" TargetMode="External"/><Relationship Id="rId4" Type="http://schemas.openxmlformats.org/officeDocument/2006/relationships/hyperlink" Target="http://www.iwt.tugraz.at/" TargetMode="Externa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707199"/>
            <a:ext cx="12938125" cy="614118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" name="Gerade Verbindung 17"/>
          <p:cNvSpPr/>
          <p:nvPr/>
        </p:nvSpPr>
        <p:spPr>
          <a:xfrm>
            <a:off x="880586" y="715716"/>
            <a:ext cx="11868858" cy="1"/>
          </a:xfrm>
          <a:prstGeom prst="line">
            <a:avLst/>
          </a:prstGeom>
          <a:ln w="635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" name="Bild 21" descr="Bild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23016" y="150773"/>
            <a:ext cx="1226428" cy="45380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feld 14"/>
          <p:cNvSpPr txBox="1"/>
          <p:nvPr/>
        </p:nvSpPr>
        <p:spPr>
          <a:xfrm>
            <a:off x="880588" y="6827791"/>
            <a:ext cx="7675317" cy="400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Kontakt: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....@tugraz.at</a:t>
            </a:r>
            <a:r>
              <a:t>,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www.iwt.tugraz.at</a:t>
            </a:r>
            <a:endParaRPr u="sng">
              <a:solidFill>
                <a:srgbClr val="0070C0"/>
              </a:solidFill>
            </a:endParaRP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Titel der Veranstaltung, Ort &amp; Datum</a:t>
            </a:r>
          </a:p>
        </p:txBody>
      </p:sp>
      <p:sp>
        <p:nvSpPr>
          <p:cNvPr id="6" name="Rechteck 19"/>
          <p:cNvSpPr/>
          <p:nvPr/>
        </p:nvSpPr>
        <p:spPr>
          <a:xfrm>
            <a:off x="1" y="715716"/>
            <a:ext cx="610968" cy="614118"/>
          </a:xfrm>
          <a:prstGeom prst="rect">
            <a:avLst/>
          </a:prstGeom>
          <a:solidFill>
            <a:srgbClr val="F7014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" name="Titeltext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Titeltext</a:t>
            </a:r>
          </a:p>
        </p:txBody>
      </p:sp>
      <p:sp>
        <p:nvSpPr>
          <p:cNvPr id="8" name="Textebene 1…"/>
          <p:cNvSpPr txBox="1"/>
          <p:nvPr>
            <p:ph type="body" idx="1"/>
          </p:nvPr>
        </p:nvSpPr>
        <p:spPr>
          <a:xfrm>
            <a:off x="880588" y="349996"/>
            <a:ext cx="10187500" cy="286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9" name="Foliennummer"/>
          <p:cNvSpPr txBox="1"/>
          <p:nvPr>
            <p:ph type="sldNum" sz="quarter" idx="2"/>
          </p:nvPr>
        </p:nvSpPr>
        <p:spPr>
          <a:xfrm>
            <a:off x="200251" y="924083"/>
            <a:ext cx="210468" cy="19738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</p:sldLayoutIdLst>
  <p:transition xmlns:p14="http://schemas.microsoft.com/office/powerpoint/2010/main" spd="med" advClick="1"/>
  <p:txStyles>
    <p:titleStyle>
      <a:lvl1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648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609230" marR="0" indent="-24922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989998" marR="0" indent="-26999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374544" marR="0" indent="-294545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o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ctr" defTabSz="64808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ußzeilenplatzhalter 2"/>
          <p:cNvSpPr txBox="1"/>
          <p:nvPr/>
        </p:nvSpPr>
        <p:spPr>
          <a:xfrm>
            <a:off x="879471" y="3882707"/>
            <a:ext cx="8658002" cy="2328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Antonia Lea Windisch</a:t>
            </a:r>
          </a:p>
          <a:p>
            <a:pPr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Emily Thomas</a:t>
            </a:r>
          </a:p>
          <a:p>
            <a:pPr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Vincent Jakl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Technische Universität Graz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Inffeldgasse</a:t>
            </a:r>
          </a:p>
          <a:p>
            <a:pPr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A 8010 Graz</a:t>
            </a:r>
          </a:p>
        </p:txBody>
      </p:sp>
      <p:sp>
        <p:nvSpPr>
          <p:cNvPr id="65" name="Titel 1"/>
          <p:cNvSpPr txBox="1"/>
          <p:nvPr>
            <p:ph type="title"/>
          </p:nvPr>
        </p:nvSpPr>
        <p:spPr>
          <a:xfrm>
            <a:off x="879471" y="1398587"/>
            <a:ext cx="8658002" cy="2426401"/>
          </a:xfrm>
          <a:prstGeom prst="rect">
            <a:avLst/>
          </a:prstGeom>
        </p:spPr>
        <p:txBody>
          <a:bodyPr/>
          <a:lstStyle/>
          <a:p>
            <a:pPr/>
            <a:r>
              <a:t>Knowledge Discovery and Data Mining 1 - Phase 1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oliennummernplatzhalter 5"/>
          <p:cNvSpPr txBox="1"/>
          <p:nvPr>
            <p:ph type="sldNum" sz="quarter" idx="4294967295"/>
          </p:nvPr>
        </p:nvSpPr>
        <p:spPr>
          <a:xfrm>
            <a:off x="241985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8" name="Titel 1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</p:spPr>
        <p:txBody>
          <a:bodyPr/>
          <a:lstStyle/>
          <a:p>
            <a:pPr/>
            <a:r>
              <a:t>Approach</a:t>
            </a:r>
          </a:p>
        </p:txBody>
      </p:sp>
      <p:sp>
        <p:nvSpPr>
          <p:cNvPr id="69" name="Textplatzhalter 2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Preserve as much information as possible…"/>
          <p:cNvSpPr txBox="1"/>
          <p:nvPr/>
        </p:nvSpPr>
        <p:spPr>
          <a:xfrm>
            <a:off x="755880" y="1778013"/>
            <a:ext cx="12204299" cy="402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60684" indent="-260684">
              <a:buSzPct val="100000"/>
              <a:buChar char="•"/>
            </a:pPr>
            <a:r>
              <a:t>Preserve as much information as possible</a:t>
            </a:r>
          </a:p>
          <a:p>
            <a:pPr marL="260684" indent="-260684">
              <a:buSzPct val="100000"/>
              <a:buChar char="•"/>
            </a:pPr>
            <a:r>
              <a:t>Drop columns that are contradictory to one another, keep the more relevant one </a:t>
            </a:r>
          </a:p>
          <a:p>
            <a:pPr marL="260684" indent="-260684">
              <a:buSzPct val="100000"/>
              <a:buChar char="•"/>
            </a:pPr>
            <a:r>
              <a:t>Use domain knowledge but due to synthesized data set accept some values one wouldn’t find in the real world </a:t>
            </a:r>
          </a:p>
          <a:p>
            <a:pPr marL="260684" indent="-260684">
              <a:buSzPct val="100000"/>
              <a:buChar char="•"/>
            </a:pPr>
            <a:r>
              <a:t>Some assumptions taken were: </a:t>
            </a:r>
          </a:p>
          <a:p>
            <a:pPr lvl="1" marL="641684" indent="-260684">
              <a:buSzPct val="100000"/>
              <a:buChar char="•"/>
            </a:pPr>
            <a:r>
              <a:t>Time on ice portrayed in hours while power play time in seconds since a lot of</a:t>
            </a:r>
          </a:p>
          <a:p>
            <a:pPr lvl="1" indent="228600"/>
            <a:r>
              <a:t>     people have higher power play time than time on ice</a:t>
            </a:r>
          </a:p>
          <a:p>
            <a:pPr lvl="1" marL="641684" indent="-260684">
              <a:buSzPct val="100000"/>
              <a:buChar char="•"/>
            </a:pPr>
            <a:r>
              <a:t>Penalty kill time portrayed in minutes and changed to seconds </a:t>
            </a:r>
          </a:p>
          <a:p>
            <a:pPr lvl="1" marL="641684" indent="-260684">
              <a:buSzPct val="100000"/>
              <a:buChar char="•"/>
            </a:pP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oliennummernplatzhalter 5"/>
          <p:cNvSpPr txBox="1"/>
          <p:nvPr>
            <p:ph type="sldNum" sz="quarter" idx="4294967295"/>
          </p:nvPr>
        </p:nvSpPr>
        <p:spPr>
          <a:xfrm>
            <a:off x="241985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3" name="Textplatzhalter 1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" name="Titel 3"/>
          <p:cNvSpPr txBox="1"/>
          <p:nvPr>
            <p:ph type="title"/>
          </p:nvPr>
        </p:nvSpPr>
        <p:spPr>
          <a:xfrm>
            <a:off x="880588" y="884237"/>
            <a:ext cx="11876400" cy="122040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Preprocessing</a:t>
            </a:r>
          </a:p>
        </p:txBody>
      </p:sp>
      <p:sp>
        <p:nvSpPr>
          <p:cNvPr id="75" name="Discrepancy in depiction of gender values: f/ female , m/male…"/>
          <p:cNvSpPr txBox="1"/>
          <p:nvPr/>
        </p:nvSpPr>
        <p:spPr>
          <a:xfrm>
            <a:off x="521055" y="1493077"/>
            <a:ext cx="10473813" cy="4663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Discrepancy in depiction of gender values: f/ female , m/male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-&gt; Normalized gender mapping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Discrepancy in depiction of city and country names: Austria / austria etc.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-&gt; Normalized values to lowercase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Internationals IDs from dataset id_card_0 refactored from roman to Arab numerals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Suspicious amount of first names ended on „ius“, interpreted that as an mistake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-&gt; removed all the ius endings</a:t>
            </a:r>
          </a:p>
          <a:p>
            <a:pPr marL="240631" indent="-240631" defTabSz="914400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Outliers with save percentage higher than 100 percent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-&gt; normalized to max value 100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Normalized height and weight for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reprocess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Preprocessing </a:t>
            </a:r>
          </a:p>
        </p:txBody>
      </p:sp>
      <p:sp>
        <p:nvSpPr>
          <p:cNvPr id="78" name="Zum Bearbeiten doppelklicke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" name="Discrepancies found:…"/>
          <p:cNvSpPr txBox="1"/>
          <p:nvPr/>
        </p:nvSpPr>
        <p:spPr>
          <a:xfrm>
            <a:off x="809357" y="1564862"/>
            <a:ext cx="7123790" cy="2377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500"/>
            </a:pPr>
            <a:r>
              <a:t>Discrepancies found: 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Depiction of gender values: f/female , m/male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City and country names: Austria / austria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Weight and height: kg/no value, cm/m/no value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Save percentage &gt; 100</a:t>
            </a:r>
          </a:p>
          <a:p>
            <a:pPr marL="260684" indent="-260684">
              <a:buSzPct val="100000"/>
              <a:buChar char="•"/>
              <a:defRPr sz="2500"/>
            </a:pPr>
            <a:r>
              <a:t>Suspicious amount of first names ending in „ius“</a:t>
            </a:r>
          </a:p>
        </p:txBody>
      </p:sp>
      <p:sp>
        <p:nvSpPr>
          <p:cNvPr id="80" name="Internationals IDs from dataset id_card_0 refactored from roman to Arab numerals"/>
          <p:cNvSpPr txBox="1"/>
          <p:nvPr/>
        </p:nvSpPr>
        <p:spPr>
          <a:xfrm>
            <a:off x="737431" y="4999624"/>
            <a:ext cx="10473813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Internationals IDs from dataset id_card_0 refactored from roman to Arab numerals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oliennummernplatzhalter 5"/>
          <p:cNvSpPr txBox="1"/>
          <p:nvPr>
            <p:ph type="sldNum" sz="quarter" idx="4294967295"/>
          </p:nvPr>
        </p:nvSpPr>
        <p:spPr>
          <a:xfrm>
            <a:off x="241985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3" name="Titel 1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</p:spPr>
        <p:txBody>
          <a:bodyPr/>
          <a:lstStyle/>
          <a:p>
            <a:pPr/>
            <a:r>
              <a:t>Data relationships</a:t>
            </a:r>
          </a:p>
        </p:txBody>
      </p:sp>
      <p:sp>
        <p:nvSpPr>
          <p:cNvPr id="84" name="Textplatzhalter 2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oliennummernplatzhalter 5"/>
          <p:cNvSpPr txBox="1"/>
          <p:nvPr>
            <p:ph type="sldNum" sz="quarter" idx="4294967295"/>
          </p:nvPr>
        </p:nvSpPr>
        <p:spPr>
          <a:xfrm>
            <a:off x="241985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7" name="Titel 1"/>
          <p:cNvSpPr txBox="1"/>
          <p:nvPr>
            <p:ph type="title"/>
          </p:nvPr>
        </p:nvSpPr>
        <p:spPr>
          <a:xfrm>
            <a:off x="880588" y="884237"/>
            <a:ext cx="11876400" cy="1220402"/>
          </a:xfrm>
          <a:prstGeom prst="rect">
            <a:avLst/>
          </a:prstGeom>
        </p:spPr>
        <p:txBody>
          <a:bodyPr/>
          <a:lstStyle/>
          <a:p>
            <a:pPr/>
            <a:r>
              <a:t>Data relationships</a:t>
            </a:r>
          </a:p>
        </p:txBody>
      </p:sp>
      <p:sp>
        <p:nvSpPr>
          <p:cNvPr id="88" name="Textplatzhalter 2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Data cleaning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</p:spPr>
        <p:txBody>
          <a:bodyPr/>
          <a:lstStyle/>
          <a:p>
            <a:pPr/>
            <a:r>
              <a:t>Data cleaning</a:t>
            </a:r>
          </a:p>
        </p:txBody>
      </p:sp>
      <p:sp>
        <p:nvSpPr>
          <p:cNvPr id="91" name="Zum Bearbeiten doppelklicken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Foliennummer"/>
          <p:cNvSpPr txBox="1"/>
          <p:nvPr>
            <p:ph type="sldNum" sz="quarter" idx="4294967295"/>
          </p:nvPr>
        </p:nvSpPr>
        <p:spPr>
          <a:xfrm>
            <a:off x="241984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3" name="We first looked at each Dataset separately to identify problems:…"/>
          <p:cNvSpPr txBox="1"/>
          <p:nvPr/>
        </p:nvSpPr>
        <p:spPr>
          <a:xfrm>
            <a:off x="196729" y="1663700"/>
            <a:ext cx="12969239" cy="43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500">
                <a:latin typeface="Arial"/>
                <a:ea typeface="Arial"/>
                <a:cs typeface="Arial"/>
                <a:sym typeface="Arial"/>
              </a:defRPr>
            </a:pPr>
            <a:r>
              <a:t>First consider each Dataset separately to identify problems: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Identity_card: 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birth city and nationality often didn’t match, for clarity decided to drop birth city due to </a:t>
            </a:r>
          </a:p>
          <a:p>
            <a:pPr lvl="3" indent="685800" defTabSz="914400">
              <a:lnSpc>
                <a:spcPct val="90000"/>
              </a:lnSpc>
              <a:spcBef>
                <a:spcPts val="1000"/>
              </a:spcBef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higher relevance of nationality for player’s visas etc. 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Age outliers found upon inspection, up to ≈300 years old, decided on the upper bound of 122  the oldest person alive on earth (122 years)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Scouting notes: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Some players had more years pro than years played in general, decided to drop those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Dropped players with 0 years of experience but experience level higher than rookie </a:t>
            </a:r>
          </a:p>
          <a:p>
            <a:pPr lvl="1" marL="685800" indent="-228600" defTabSz="9144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Filled NaN values for scout notes with „no notes“ and for dominant hand with „none“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a cleaning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</p:spPr>
        <p:txBody>
          <a:bodyPr/>
          <a:lstStyle/>
          <a:p>
            <a:pPr/>
            <a:r>
              <a:t>Data cleaning</a:t>
            </a:r>
          </a:p>
        </p:txBody>
      </p:sp>
      <p:sp>
        <p:nvSpPr>
          <p:cNvPr id="96" name="Zum Bearbeiten doppelklicken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Foliennummer"/>
          <p:cNvSpPr txBox="1"/>
          <p:nvPr>
            <p:ph type="sldNum" sz="quarter" idx="4294967295"/>
          </p:nvPr>
        </p:nvSpPr>
        <p:spPr>
          <a:xfrm>
            <a:off x="241984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8" name="Performance:…"/>
          <p:cNvSpPr txBox="1"/>
          <p:nvPr/>
        </p:nvSpPr>
        <p:spPr>
          <a:xfrm>
            <a:off x="500614" y="1778013"/>
            <a:ext cx="12307164" cy="529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marL="260684" indent="-260684">
              <a:buSzPct val="100000"/>
              <a:buChar char="•"/>
              <a:defRPr sz="2300"/>
            </a:pPr>
            <a:r>
              <a:t>Performance: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Puck touches, time between penalties and goals total were dropped due to inconsistency </a:t>
            </a:r>
          </a:p>
          <a:p>
            <a:pPr lvl="1" indent="228600">
              <a:defRPr sz="2300"/>
            </a:pPr>
            <a:r>
              <a:t>     with other columns 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puck possession time reformatted from minutes to seconds 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Set penalty minutes to 0 for players without any saved penalties </a:t>
            </a:r>
          </a:p>
          <a:p>
            <a:pPr lvl="1" marL="641684" indent="-260684">
              <a:buSzPct val="100000"/>
              <a:buChar char="•"/>
              <a:defRPr sz="2300"/>
            </a:pPr>
            <a:r>
              <a:t>Newly calculated shooting percentage since values beforehand didn’t seem </a:t>
            </a:r>
          </a:p>
          <a:p>
            <a:pPr lvl="2" indent="457200">
              <a:defRPr sz="2300"/>
            </a:pPr>
            <a:r>
              <a:t>  sensible -&gt; Equation: shooting percentage = goals/ number of shots * 100</a:t>
            </a:r>
          </a:p>
          <a:p>
            <a:pPr lvl="2" indent="457200">
              <a:defRPr sz="2300"/>
            </a:pPr>
          </a:p>
          <a:p>
            <a:pPr marL="260684" indent="-260684">
              <a:buSzPct val="100000"/>
              <a:buChar char="•"/>
            </a:pPr>
            <a:r>
              <a:t>Medical </a:t>
            </a:r>
          </a:p>
          <a:p>
            <a:pPr lvl="1" marL="641684" indent="-260684">
              <a:buSzPct val="100000"/>
              <a:buChar char="•"/>
            </a:pPr>
          </a:p>
          <a:p>
            <a:pPr lvl="1" marL="641684" indent="-260684">
              <a:buSzPct val="100000"/>
              <a:buChar char="•"/>
            </a:pPr>
          </a:p>
          <a:p>
            <a:pPr lvl="1" marL="641684" indent="-260684">
              <a:buSzPct val="100000"/>
              <a:buChar char="•"/>
            </a:pPr>
          </a:p>
          <a:p>
            <a:pPr marL="260684" indent="-260684">
              <a:buSzPct val="100000"/>
              <a:buChar char="•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ost important findings"/>
          <p:cNvSpPr txBox="1"/>
          <p:nvPr>
            <p:ph type="title"/>
          </p:nvPr>
        </p:nvSpPr>
        <p:spPr>
          <a:xfrm>
            <a:off x="880588" y="884237"/>
            <a:ext cx="11876400" cy="614118"/>
          </a:xfrm>
          <a:prstGeom prst="rect">
            <a:avLst/>
          </a:prstGeom>
        </p:spPr>
        <p:txBody>
          <a:bodyPr/>
          <a:lstStyle/>
          <a:p>
            <a:pPr/>
            <a:r>
              <a:t>Most important findings</a:t>
            </a:r>
          </a:p>
        </p:txBody>
      </p:sp>
      <p:sp>
        <p:nvSpPr>
          <p:cNvPr id="101" name="Zum Bearbeiten doppelklicken"/>
          <p:cNvSpPr txBox="1"/>
          <p:nvPr>
            <p:ph type="body" sz="quarter" idx="1"/>
          </p:nvPr>
        </p:nvSpPr>
        <p:spPr>
          <a:xfrm>
            <a:off x="880588" y="349996"/>
            <a:ext cx="10187500" cy="28672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Foliennummer"/>
          <p:cNvSpPr txBox="1"/>
          <p:nvPr>
            <p:ph type="sldNum" sz="quarter" idx="4294967295"/>
          </p:nvPr>
        </p:nvSpPr>
        <p:spPr>
          <a:xfrm>
            <a:off x="241984" y="924083"/>
            <a:ext cx="127001" cy="1973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IWT">
  <a:themeElements>
    <a:clrScheme name="IW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IW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IW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IWT">
  <a:themeElements>
    <a:clrScheme name="IW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IWT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IW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64808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