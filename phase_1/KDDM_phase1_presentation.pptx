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928600" cy="73152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6480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6480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6480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6480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6480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6480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6480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6480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6480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4" name="Shape 7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648080" latinLnBrk="0">
      <a:defRPr sz="1700">
        <a:latin typeface="+mj-lt"/>
        <a:ea typeface="+mj-ea"/>
        <a:cs typeface="+mj-cs"/>
        <a:sym typeface="Calibri"/>
      </a:defRPr>
    </a:lvl1pPr>
    <a:lvl2pPr indent="228600" defTabSz="648080" latinLnBrk="0">
      <a:defRPr sz="1700">
        <a:latin typeface="+mj-lt"/>
        <a:ea typeface="+mj-ea"/>
        <a:cs typeface="+mj-cs"/>
        <a:sym typeface="Calibri"/>
      </a:defRPr>
    </a:lvl2pPr>
    <a:lvl3pPr indent="457200" defTabSz="648080" latinLnBrk="0">
      <a:defRPr sz="1700">
        <a:latin typeface="+mj-lt"/>
        <a:ea typeface="+mj-ea"/>
        <a:cs typeface="+mj-cs"/>
        <a:sym typeface="Calibri"/>
      </a:defRPr>
    </a:lvl3pPr>
    <a:lvl4pPr indent="685800" defTabSz="648080" latinLnBrk="0">
      <a:defRPr sz="1700">
        <a:latin typeface="+mj-lt"/>
        <a:ea typeface="+mj-ea"/>
        <a:cs typeface="+mj-cs"/>
        <a:sym typeface="Calibri"/>
      </a:defRPr>
    </a:lvl4pPr>
    <a:lvl5pPr indent="914400" defTabSz="648080" latinLnBrk="0">
      <a:defRPr sz="1700">
        <a:latin typeface="+mj-lt"/>
        <a:ea typeface="+mj-ea"/>
        <a:cs typeface="+mj-cs"/>
        <a:sym typeface="Calibri"/>
      </a:defRPr>
    </a:lvl5pPr>
    <a:lvl6pPr indent="1143000" defTabSz="648080" latinLnBrk="0">
      <a:defRPr sz="1700">
        <a:latin typeface="+mj-lt"/>
        <a:ea typeface="+mj-ea"/>
        <a:cs typeface="+mj-cs"/>
        <a:sym typeface="Calibri"/>
      </a:defRPr>
    </a:lvl6pPr>
    <a:lvl7pPr indent="1371600" defTabSz="648080" latinLnBrk="0">
      <a:defRPr sz="1700">
        <a:latin typeface="+mj-lt"/>
        <a:ea typeface="+mj-ea"/>
        <a:cs typeface="+mj-cs"/>
        <a:sym typeface="Calibri"/>
      </a:defRPr>
    </a:lvl7pPr>
    <a:lvl8pPr indent="1600200" defTabSz="648080" latinLnBrk="0">
      <a:defRPr sz="1700">
        <a:latin typeface="+mj-lt"/>
        <a:ea typeface="+mj-ea"/>
        <a:cs typeface="+mj-cs"/>
        <a:sym typeface="Calibri"/>
      </a:defRPr>
    </a:lvl8pPr>
    <a:lvl9pPr indent="1828800" defTabSz="648080" latinLnBrk="0">
      <a:defRPr sz="17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hyperlink" Target="mailto:@tugraz.at" TargetMode="External"/><Relationship Id="rId4" Type="http://schemas.openxmlformats.org/officeDocument/2006/relationships/hyperlink" Target="http://www.iwt.tugraz.at/" TargetMode="External"/><Relationship Id="rId5" Type="http://schemas.openxmlformats.org/officeDocument/2006/relationships/image" Target="../media/image2.jpe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hyperlink" Target="mailto:@tugraz.at" TargetMode="External"/><Relationship Id="rId4" Type="http://schemas.openxmlformats.org/officeDocument/2006/relationships/hyperlink" Target="http://www.iwt.tugraz.at/" TargetMode="Externa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IWT_cover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7"/>
          <p:cNvSpPr/>
          <p:nvPr/>
        </p:nvSpPr>
        <p:spPr>
          <a:xfrm>
            <a:off x="0" y="6707199"/>
            <a:ext cx="12938125" cy="614118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8" name="Gerade Verbindung 17"/>
          <p:cNvSpPr/>
          <p:nvPr/>
        </p:nvSpPr>
        <p:spPr>
          <a:xfrm>
            <a:off x="880586" y="715716"/>
            <a:ext cx="11868858" cy="1"/>
          </a:xfrm>
          <a:prstGeom prst="line">
            <a:avLst/>
          </a:prstGeom>
          <a:ln w="63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9" name="Bild 21" descr="Bild 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23016" y="150773"/>
            <a:ext cx="1226428" cy="453804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Textfeld 14"/>
          <p:cNvSpPr txBox="1"/>
          <p:nvPr/>
        </p:nvSpPr>
        <p:spPr>
          <a:xfrm>
            <a:off x="880588" y="6827791"/>
            <a:ext cx="7675317" cy="400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Kontakt: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....@tugraz.at</a:t>
            </a:r>
            <a:r>
              <a:t>,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www.iwt.tugraz.at</a:t>
            </a:r>
            <a:endParaRPr u="sng">
              <a:solidFill>
                <a:srgbClr val="0070C0"/>
              </a:solidFill>
            </a:endParaRPr>
          </a:p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Titel der Veranstaltung, Ort &amp; Datum</a:t>
            </a:r>
          </a:p>
        </p:txBody>
      </p:sp>
      <p:sp>
        <p:nvSpPr>
          <p:cNvPr id="21" name="Rechteck 19"/>
          <p:cNvSpPr/>
          <p:nvPr/>
        </p:nvSpPr>
        <p:spPr>
          <a:xfrm>
            <a:off x="1" y="715716"/>
            <a:ext cx="610968" cy="614118"/>
          </a:xfrm>
          <a:prstGeom prst="rect">
            <a:avLst/>
          </a:prstGeom>
          <a:solidFill>
            <a:srgbClr val="F7014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2" name="Bild 1" descr="Bild 1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" y="0"/>
            <a:ext cx="12938126" cy="6706139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54000" dist="127000" dir="16200000">
              <a:srgbClr val="000000">
                <a:alpha val="70000"/>
              </a:srgbClr>
            </a:outerShdw>
          </a:effectLst>
        </p:spPr>
      </p:pic>
      <p:sp>
        <p:nvSpPr>
          <p:cNvPr id="23" name="Textfeld 271"/>
          <p:cNvSpPr txBox="1"/>
          <p:nvPr/>
        </p:nvSpPr>
        <p:spPr>
          <a:xfrm>
            <a:off x="10569532" y="1218837"/>
            <a:ext cx="2037691" cy="754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pc="28" sz="1700">
                <a:latin typeface="Arial"/>
                <a:ea typeface="Arial"/>
                <a:cs typeface="Arial"/>
                <a:sym typeface="Arial"/>
              </a:defRPr>
            </a:pPr>
            <a:r>
              <a:t>WISSEN</a:t>
            </a:r>
            <a:endParaRPr spc="39" sz="2400"/>
          </a:p>
          <a:p>
            <a:pPr algn="r">
              <a:defRPr spc="28" sz="1700">
                <a:latin typeface="Arial"/>
                <a:ea typeface="Arial"/>
                <a:cs typeface="Arial"/>
                <a:sym typeface="Arial"/>
              </a:defRPr>
            </a:pPr>
            <a:r>
              <a:t>TECHNIK</a:t>
            </a:r>
            <a:endParaRPr spc="39" sz="2400"/>
          </a:p>
          <a:p>
            <a:pPr algn="r">
              <a:defRPr spc="28" sz="1700">
                <a:latin typeface="Arial"/>
                <a:ea typeface="Arial"/>
                <a:cs typeface="Arial"/>
                <a:sym typeface="Arial"/>
              </a:defRPr>
            </a:pPr>
            <a:r>
              <a:t>LEIDENSCHAFT</a:t>
            </a:r>
          </a:p>
        </p:txBody>
      </p:sp>
      <p:sp>
        <p:nvSpPr>
          <p:cNvPr id="24" name="Klicken und eine Überschrift hinzufügen"/>
          <p:cNvSpPr txBox="1"/>
          <p:nvPr>
            <p:ph type="title" hasCustomPrompt="1"/>
          </p:nvPr>
        </p:nvSpPr>
        <p:spPr>
          <a:xfrm>
            <a:off x="879471" y="1398587"/>
            <a:ext cx="8658002" cy="2426401"/>
          </a:xfrm>
          <a:prstGeom prst="rect">
            <a:avLst/>
          </a:prstGeom>
        </p:spPr>
        <p:txBody>
          <a:bodyPr anchor="b"/>
          <a:lstStyle>
            <a:lvl1pPr>
              <a:defRPr b="1" sz="4500">
                <a:solidFill>
                  <a:srgbClr val="F70146"/>
                </a:solidFill>
              </a:defRPr>
            </a:lvl1pPr>
          </a:lstStyle>
          <a:p>
            <a:pPr/>
            <a:r>
              <a:t>Klicken und eine Überschrift hinzufügen</a:t>
            </a:r>
          </a:p>
        </p:txBody>
      </p:sp>
      <p:sp>
        <p:nvSpPr>
          <p:cNvPr id="2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IWT_title_1line">
    <p:bg>
      <p:bgPr>
        <a:gradFill flip="none" rotWithShape="1">
          <a:gsLst>
            <a:gs pos="0">
              <a:srgbClr val="FDFDFD"/>
            </a:gs>
            <a:gs pos="100000">
              <a:srgbClr val="E0EEFF"/>
            </a:gs>
          </a:gsLst>
          <a:lin ang="162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hteck 7"/>
          <p:cNvSpPr/>
          <p:nvPr/>
        </p:nvSpPr>
        <p:spPr>
          <a:xfrm>
            <a:off x="0" y="6707199"/>
            <a:ext cx="12938125" cy="614118"/>
          </a:xfrm>
          <a:prstGeom prst="rect">
            <a:avLst/>
          </a:prstGeom>
          <a:gradFill>
            <a:gsLst>
              <a:gs pos="0">
                <a:srgbClr val="7DA0D3"/>
              </a:gs>
              <a:gs pos="100000">
                <a:schemeClr val="accent1">
                  <a:hueOff val="456700"/>
                  <a:satOff val="47967"/>
                  <a:lumOff val="43351"/>
                </a:schemeClr>
              </a:gs>
            </a:gsLst>
            <a:lin ang="162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3" name="Gerade Verbindung 17"/>
          <p:cNvSpPr/>
          <p:nvPr/>
        </p:nvSpPr>
        <p:spPr>
          <a:xfrm>
            <a:off x="880586" y="715716"/>
            <a:ext cx="11868858" cy="1"/>
          </a:xfrm>
          <a:prstGeom prst="line">
            <a:avLst/>
          </a:prstGeom>
          <a:ln w="63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4" name="Bild 21" descr="Bild 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23016" y="150773"/>
            <a:ext cx="1226428" cy="453804"/>
          </a:xfrm>
          <a:prstGeom prst="rect">
            <a:avLst/>
          </a:prstGeom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5" name="Textfeld 14"/>
          <p:cNvSpPr txBox="1"/>
          <p:nvPr/>
        </p:nvSpPr>
        <p:spPr>
          <a:xfrm>
            <a:off x="880588" y="6827791"/>
            <a:ext cx="7675317" cy="400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Kontakt: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....@tugraz.at</a:t>
            </a:r>
            <a:r>
              <a:t>,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www.iwt.tugraz.at</a:t>
            </a:r>
            <a:endParaRPr u="sng">
              <a:solidFill>
                <a:srgbClr val="0070C0"/>
              </a:solidFill>
            </a:endParaRPr>
          </a:p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Titel der Veranstaltung, Ort &amp; Datum</a:t>
            </a:r>
          </a:p>
        </p:txBody>
      </p:sp>
      <p:sp>
        <p:nvSpPr>
          <p:cNvPr id="36" name="Rechteck 19"/>
          <p:cNvSpPr/>
          <p:nvPr/>
        </p:nvSpPr>
        <p:spPr>
          <a:xfrm>
            <a:off x="1" y="715716"/>
            <a:ext cx="610968" cy="614118"/>
          </a:xfrm>
          <a:prstGeom prst="rect">
            <a:avLst/>
          </a:prstGeom>
          <a:solidFill>
            <a:srgbClr val="F7014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A70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7" name="Titeltext"/>
          <p:cNvSpPr txBox="1"/>
          <p:nvPr>
            <p:ph type="title"/>
          </p:nvPr>
        </p:nvSpPr>
        <p:spPr>
          <a:xfrm>
            <a:off x="880588" y="884237"/>
            <a:ext cx="5034735" cy="6141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0203"/>
                </a:solidFill>
              </a:defRPr>
            </a:lvl1pPr>
          </a:lstStyle>
          <a:p>
            <a:pPr/>
            <a:r>
              <a:t>Titeltext</a:t>
            </a:r>
          </a:p>
        </p:txBody>
      </p:sp>
      <p:sp>
        <p:nvSpPr>
          <p:cNvPr id="38" name="Textebene 1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39" name="Hockey"/>
          <p:cNvSpPr/>
          <p:nvPr/>
        </p:nvSpPr>
        <p:spPr>
          <a:xfrm>
            <a:off x="11784622" y="5265199"/>
            <a:ext cx="1066406" cy="19839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37" h="21405" fill="norm" stroke="1" extrusionOk="0">
                <a:moveTo>
                  <a:pt x="20360" y="4"/>
                </a:moveTo>
                <a:cubicBezTo>
                  <a:pt x="20162" y="-10"/>
                  <a:pt x="19920" y="15"/>
                  <a:pt x="19622" y="104"/>
                </a:cubicBezTo>
                <a:lnTo>
                  <a:pt x="8335" y="17757"/>
                </a:lnTo>
                <a:cubicBezTo>
                  <a:pt x="8335" y="17757"/>
                  <a:pt x="7581" y="18867"/>
                  <a:pt x="4624" y="19356"/>
                </a:cubicBezTo>
                <a:lnTo>
                  <a:pt x="627" y="20043"/>
                </a:lnTo>
                <a:cubicBezTo>
                  <a:pt x="627" y="20043"/>
                  <a:pt x="-463" y="20176"/>
                  <a:pt x="230" y="20754"/>
                </a:cubicBezTo>
                <a:cubicBezTo>
                  <a:pt x="230" y="20754"/>
                  <a:pt x="666" y="21176"/>
                  <a:pt x="1088" y="21302"/>
                </a:cubicBezTo>
                <a:cubicBezTo>
                  <a:pt x="1088" y="21302"/>
                  <a:pt x="1726" y="21590"/>
                  <a:pt x="3453" y="21205"/>
                </a:cubicBezTo>
                <a:lnTo>
                  <a:pt x="6406" y="20473"/>
                </a:lnTo>
                <a:cubicBezTo>
                  <a:pt x="6406" y="20473"/>
                  <a:pt x="8092" y="20229"/>
                  <a:pt x="8903" y="19346"/>
                </a:cubicBezTo>
                <a:lnTo>
                  <a:pt x="21137" y="432"/>
                </a:lnTo>
                <a:cubicBezTo>
                  <a:pt x="21137" y="432"/>
                  <a:pt x="20953" y="46"/>
                  <a:pt x="20360" y="4"/>
                </a:cubicBezTo>
                <a:close/>
              </a:path>
            </a:pathLst>
          </a:custGeom>
          <a:solidFill>
            <a:srgbClr val="FFEBE7"/>
          </a:solidFill>
          <a:ln w="25400">
            <a:solidFill>
              <a:srgbClr val="E2324C"/>
            </a:solidFill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B5160F"/>
                </a:solidFill>
              </a:defRPr>
            </a:pPr>
          </a:p>
        </p:txBody>
      </p:sp>
      <p:sp>
        <p:nvSpPr>
          <p:cNvPr id="40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WT_title_2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ebene 1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8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49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WT_2columns_title_1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eltext"/>
          <p:cNvSpPr txBox="1"/>
          <p:nvPr>
            <p:ph type="title"/>
          </p:nvPr>
        </p:nvSpPr>
        <p:spPr>
          <a:xfrm>
            <a:off x="880588" y="884237"/>
            <a:ext cx="11876400" cy="614118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57" name="Textebene 1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5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WT_2columns_title_2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66" name="Textebene 1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67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hyperlink" Target="mailto:@tugraz.at" TargetMode="External"/><Relationship Id="rId4" Type="http://schemas.openxmlformats.org/officeDocument/2006/relationships/hyperlink" Target="http://www.iwt.tugraz.at/" TargetMode="Externa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7"/>
          <p:cNvSpPr/>
          <p:nvPr/>
        </p:nvSpPr>
        <p:spPr>
          <a:xfrm>
            <a:off x="0" y="6707199"/>
            <a:ext cx="12938125" cy="614118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" name="Gerade Verbindung 17"/>
          <p:cNvSpPr/>
          <p:nvPr/>
        </p:nvSpPr>
        <p:spPr>
          <a:xfrm>
            <a:off x="880586" y="715716"/>
            <a:ext cx="11868858" cy="1"/>
          </a:xfrm>
          <a:prstGeom prst="line">
            <a:avLst/>
          </a:prstGeom>
          <a:ln w="63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" name="Bild 21" descr="Bild 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23016" y="150773"/>
            <a:ext cx="1226428" cy="453804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feld 14"/>
          <p:cNvSpPr txBox="1"/>
          <p:nvPr/>
        </p:nvSpPr>
        <p:spPr>
          <a:xfrm>
            <a:off x="880588" y="6827791"/>
            <a:ext cx="7675317" cy="400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Kontakt: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....@tugraz.at</a:t>
            </a:r>
            <a:r>
              <a:t>,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www.iwt.tugraz.at</a:t>
            </a:r>
            <a:endParaRPr u="sng">
              <a:solidFill>
                <a:srgbClr val="0070C0"/>
              </a:solidFill>
            </a:endParaRPr>
          </a:p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Titel der Veranstaltung, Ort &amp; Datum</a:t>
            </a:r>
          </a:p>
        </p:txBody>
      </p:sp>
      <p:sp>
        <p:nvSpPr>
          <p:cNvPr id="6" name="Rechteck 19"/>
          <p:cNvSpPr/>
          <p:nvPr/>
        </p:nvSpPr>
        <p:spPr>
          <a:xfrm>
            <a:off x="1" y="715716"/>
            <a:ext cx="610968" cy="614118"/>
          </a:xfrm>
          <a:prstGeom prst="rect">
            <a:avLst/>
          </a:prstGeom>
          <a:solidFill>
            <a:srgbClr val="F7014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7" name="Textebene 1…"/>
          <p:cNvSpPr txBox="1"/>
          <p:nvPr>
            <p:ph type="body" idx="1"/>
          </p:nvPr>
        </p:nvSpPr>
        <p:spPr>
          <a:xfrm>
            <a:off x="880588" y="349996"/>
            <a:ext cx="10187500" cy="286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8" name="Titeltext"/>
          <p:cNvSpPr txBox="1"/>
          <p:nvPr>
            <p:ph type="title"/>
          </p:nvPr>
        </p:nvSpPr>
        <p:spPr>
          <a:xfrm>
            <a:off x="880588" y="884237"/>
            <a:ext cx="11876400" cy="1220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Titeltext</a:t>
            </a:r>
          </a:p>
        </p:txBody>
      </p:sp>
      <p:sp>
        <p:nvSpPr>
          <p:cNvPr id="9" name="Hockey"/>
          <p:cNvSpPr/>
          <p:nvPr/>
        </p:nvSpPr>
        <p:spPr>
          <a:xfrm>
            <a:off x="11784622" y="5265199"/>
            <a:ext cx="1066406" cy="19839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37" h="21405" fill="norm" stroke="1" extrusionOk="0">
                <a:moveTo>
                  <a:pt x="20360" y="4"/>
                </a:moveTo>
                <a:cubicBezTo>
                  <a:pt x="20162" y="-10"/>
                  <a:pt x="19920" y="15"/>
                  <a:pt x="19622" y="104"/>
                </a:cubicBezTo>
                <a:lnTo>
                  <a:pt x="8335" y="17757"/>
                </a:lnTo>
                <a:cubicBezTo>
                  <a:pt x="8335" y="17757"/>
                  <a:pt x="7581" y="18867"/>
                  <a:pt x="4624" y="19356"/>
                </a:cubicBezTo>
                <a:lnTo>
                  <a:pt x="627" y="20043"/>
                </a:lnTo>
                <a:cubicBezTo>
                  <a:pt x="627" y="20043"/>
                  <a:pt x="-463" y="20176"/>
                  <a:pt x="230" y="20754"/>
                </a:cubicBezTo>
                <a:cubicBezTo>
                  <a:pt x="230" y="20754"/>
                  <a:pt x="666" y="21176"/>
                  <a:pt x="1088" y="21302"/>
                </a:cubicBezTo>
                <a:cubicBezTo>
                  <a:pt x="1088" y="21302"/>
                  <a:pt x="1726" y="21590"/>
                  <a:pt x="3453" y="21205"/>
                </a:cubicBezTo>
                <a:lnTo>
                  <a:pt x="6406" y="20473"/>
                </a:lnTo>
                <a:cubicBezTo>
                  <a:pt x="6406" y="20473"/>
                  <a:pt x="8092" y="20229"/>
                  <a:pt x="8903" y="19346"/>
                </a:cubicBezTo>
                <a:lnTo>
                  <a:pt x="21137" y="432"/>
                </a:lnTo>
                <a:cubicBezTo>
                  <a:pt x="21137" y="432"/>
                  <a:pt x="20953" y="46"/>
                  <a:pt x="20360" y="4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E2324C"/>
            </a:solidFill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B5160F"/>
                </a:solidFill>
              </a:defRPr>
            </a:pPr>
          </a:p>
        </p:txBody>
      </p:sp>
      <p:sp>
        <p:nvSpPr>
          <p:cNvPr id="10" name="Foliennummer"/>
          <p:cNvSpPr txBox="1"/>
          <p:nvPr>
            <p:ph type="sldNum" sz="quarter" idx="2"/>
          </p:nvPr>
        </p:nvSpPr>
        <p:spPr>
          <a:xfrm>
            <a:off x="200251" y="924083"/>
            <a:ext cx="210468" cy="19738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</p:sldLayoutIdLst>
  <p:transition xmlns:p14="http://schemas.microsoft.com/office/powerpoint/2010/main" spd="med" advClick="1"/>
  <p:txStyles>
    <p:titleStyle>
      <a:lvl1pPr marL="0" marR="0" indent="0" algn="l" defTabSz="648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648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648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648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648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648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648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648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648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609230" marR="0" indent="-24922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989998" marR="0" indent="-26999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−"/>
        <a:tabLst/>
        <a:defRPr b="0" baseline="0" cap="none" i="0" spc="0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374544" marR="0" indent="-294545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o"/>
        <a:tabLst/>
        <a:defRPr b="0" baseline="0" cap="none" i="0" spc="0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514600" marR="0" indent="-2286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2971800" marR="0" indent="-2286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429000" marR="0" indent="-2286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3886200" marR="0" indent="-2286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ctr" defTabSz="6480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6480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6480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6480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6480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ctr" defTabSz="6480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ctr" defTabSz="6480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ctr" defTabSz="6480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ctr" defTabSz="6480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Fußzeilenplatzhalter 2"/>
          <p:cNvSpPr txBox="1"/>
          <p:nvPr/>
        </p:nvSpPr>
        <p:spPr>
          <a:xfrm>
            <a:off x="879471" y="3882707"/>
            <a:ext cx="8658002" cy="2328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defRPr b="1" sz="2000">
                <a:latin typeface="Arial"/>
                <a:ea typeface="Arial"/>
                <a:cs typeface="Arial"/>
                <a:sym typeface="Arial"/>
              </a:defRPr>
            </a:pPr>
            <a:r>
              <a:t>Antonia Lea Windisch</a:t>
            </a:r>
          </a:p>
          <a:p>
            <a:pPr>
              <a:defRPr b="1" sz="2000">
                <a:latin typeface="Arial"/>
                <a:ea typeface="Arial"/>
                <a:cs typeface="Arial"/>
                <a:sym typeface="Arial"/>
              </a:defRPr>
            </a:pPr>
            <a:r>
              <a:t>Emily Thomas</a:t>
            </a:r>
          </a:p>
          <a:p>
            <a:pPr>
              <a:defRPr b="1" sz="2000">
                <a:latin typeface="Arial"/>
                <a:ea typeface="Arial"/>
                <a:cs typeface="Arial"/>
                <a:sym typeface="Arial"/>
              </a:defRPr>
            </a:pPr>
            <a:r>
              <a:t>Vincent Jakl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Technische Universität Graz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Inffeldgasse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A 8010 Graz</a:t>
            </a:r>
          </a:p>
        </p:txBody>
      </p:sp>
      <p:sp>
        <p:nvSpPr>
          <p:cNvPr id="77" name="Titel 1"/>
          <p:cNvSpPr txBox="1"/>
          <p:nvPr>
            <p:ph type="title"/>
          </p:nvPr>
        </p:nvSpPr>
        <p:spPr>
          <a:xfrm>
            <a:off x="879471" y="1398587"/>
            <a:ext cx="8658002" cy="2426401"/>
          </a:xfrm>
          <a:prstGeom prst="rect">
            <a:avLst/>
          </a:prstGeom>
        </p:spPr>
        <p:txBody>
          <a:bodyPr/>
          <a:lstStyle/>
          <a:p>
            <a:pPr/>
            <a:r>
              <a:t>Knowledge Discovery and Data Mining 1 - Phase 1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oliennummernplatzhalter 5"/>
          <p:cNvSpPr txBox="1"/>
          <p:nvPr>
            <p:ph type="sldNum" sz="quarter" idx="4294967295"/>
          </p:nvPr>
        </p:nvSpPr>
        <p:spPr>
          <a:xfrm>
            <a:off x="241985" y="924083"/>
            <a:ext cx="127001" cy="1973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0" name="Titel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D0305"/>
                </a:solidFill>
              </a:defRPr>
            </a:lvl1pPr>
          </a:lstStyle>
          <a:p>
            <a:pPr/>
            <a:r>
              <a:t>Approach</a:t>
            </a:r>
          </a:p>
        </p:txBody>
      </p:sp>
      <p:sp>
        <p:nvSpPr>
          <p:cNvPr id="81" name="Textplatzhalter 2"/>
          <p:cNvSpPr txBox="1"/>
          <p:nvPr>
            <p:ph type="body" sz="quarter" idx="1"/>
          </p:nvPr>
        </p:nvSpPr>
        <p:spPr>
          <a:xfrm>
            <a:off x="880588" y="349996"/>
            <a:ext cx="10187500" cy="28672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2" name="Preserve as much information as possible…"/>
          <p:cNvSpPr txBox="1"/>
          <p:nvPr/>
        </p:nvSpPr>
        <p:spPr>
          <a:xfrm>
            <a:off x="712866" y="1663699"/>
            <a:ext cx="12204299" cy="4815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marL="260684" indent="-260684">
              <a:buSzPct val="100000"/>
              <a:buChar char="•"/>
            </a:pPr>
            <a:r>
              <a:t>Preserve as much information as possible</a:t>
            </a:r>
          </a:p>
          <a:p>
            <a:pPr marL="260684" indent="-260684">
              <a:buSzPct val="100000"/>
              <a:buChar char="•"/>
            </a:pPr>
            <a:r>
              <a:t>For contradictory columns, keep the more relevant one </a:t>
            </a:r>
          </a:p>
          <a:p>
            <a:pPr marL="260684" indent="-260684">
              <a:buSzPct val="100000"/>
              <a:buChar char="•"/>
            </a:pPr>
            <a:r>
              <a:t>Use domain knowledge but due to synthesized data set accept some values one wouldn’t normally expect </a:t>
            </a:r>
          </a:p>
          <a:p>
            <a:pPr marL="260684" indent="-260684">
              <a:buSzPct val="100000"/>
              <a:buChar char="•"/>
            </a:pPr>
            <a:r>
              <a:t>Diversity encouraged </a:t>
            </a:r>
          </a:p>
          <a:p>
            <a:pPr/>
          </a:p>
          <a:p>
            <a:pPr marL="260684" indent="-260684">
              <a:buSzPct val="100000"/>
              <a:buChar char="•"/>
            </a:pPr>
            <a:r>
              <a:t>Some assumptions taken were: </a:t>
            </a:r>
          </a:p>
          <a:p>
            <a:pPr lvl="1" marL="641684" indent="-260684">
              <a:buSzPct val="100000"/>
              <a:buChar char="•"/>
            </a:pPr>
            <a:r>
              <a:t>Time on ice portrayed in hours while power play time in seconds since a lot of</a:t>
            </a:r>
          </a:p>
          <a:p>
            <a:pPr lvl="1" indent="228600"/>
            <a:r>
              <a:t>     people have higher power play time than time on ice</a:t>
            </a:r>
          </a:p>
          <a:p>
            <a:pPr lvl="1" marL="641684" indent="-260684">
              <a:buSzPct val="100000"/>
              <a:buChar char="•"/>
            </a:pPr>
            <a:r>
              <a:t>Penalty kill time portrayed in minutes and changed to seconds </a:t>
            </a:r>
          </a:p>
          <a:p>
            <a:pPr lvl="1" marL="641684" indent="-260684">
              <a:buSzPct val="100000"/>
              <a:buChar char="•"/>
            </a:pP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reprocessing"/>
          <p:cNvSpPr txBox="1"/>
          <p:nvPr>
            <p:ph type="title"/>
          </p:nvPr>
        </p:nvSpPr>
        <p:spPr>
          <a:xfrm>
            <a:off x="880588" y="884237"/>
            <a:ext cx="4488200" cy="614118"/>
          </a:xfrm>
          <a:prstGeom prst="rect">
            <a:avLst/>
          </a:prstGeom>
        </p:spPr>
        <p:txBody>
          <a:bodyPr/>
          <a:lstStyle/>
          <a:p>
            <a:pPr/>
            <a:r>
              <a:rPr>
                <a:solidFill>
                  <a:srgbClr val="000000"/>
                </a:solidFill>
              </a:rPr>
              <a:t>Preprocessing</a:t>
            </a:r>
            <a:r>
              <a:t> </a:t>
            </a:r>
          </a:p>
        </p:txBody>
      </p:sp>
      <p:sp>
        <p:nvSpPr>
          <p:cNvPr id="85" name="Zum Bearbeiten doppelklicken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6" name="Discrepancies found:…"/>
          <p:cNvSpPr txBox="1"/>
          <p:nvPr/>
        </p:nvSpPr>
        <p:spPr>
          <a:xfrm>
            <a:off x="847950" y="1663699"/>
            <a:ext cx="6959924" cy="3495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2500"/>
            </a:pPr>
            <a:r>
              <a:t>Discrepancies found: </a:t>
            </a:r>
          </a:p>
          <a:p>
            <a:pPr marL="260684" indent="-260684">
              <a:buSzPct val="100000"/>
              <a:buChar char="•"/>
              <a:defRPr sz="2500"/>
            </a:pPr>
            <a:r>
              <a:t>Depiction of gender values: f/female , m/male</a:t>
            </a:r>
          </a:p>
          <a:p>
            <a:pPr marL="260684" indent="-260684">
              <a:buSzPct val="100000"/>
              <a:buChar char="•"/>
              <a:defRPr sz="2500"/>
            </a:pPr>
            <a:r>
              <a:t>Country and City names: Austria / austria</a:t>
            </a:r>
          </a:p>
          <a:p>
            <a:pPr marL="260684" indent="-260684">
              <a:buSzPct val="100000"/>
              <a:buChar char="•"/>
              <a:defRPr sz="2500"/>
            </a:pPr>
            <a:r>
              <a:t>Weight and height: kg/no value, cm/m/no value</a:t>
            </a:r>
          </a:p>
          <a:p>
            <a:pPr marL="260684" indent="-260684">
              <a:buSzPct val="100000"/>
              <a:buChar char="•"/>
              <a:defRPr sz="2500"/>
            </a:pPr>
            <a:r>
              <a:t>Fitness level </a:t>
            </a:r>
          </a:p>
          <a:p>
            <a:pPr marL="260684" indent="-260684">
              <a:buSzPct val="100000"/>
              <a:buChar char="•"/>
              <a:defRPr sz="2500"/>
            </a:pPr>
            <a:r>
              <a:t>Percentage sign in body fat</a:t>
            </a:r>
          </a:p>
          <a:p>
            <a:pPr>
              <a:defRPr sz="2300"/>
            </a:pPr>
          </a:p>
          <a:p>
            <a:pPr marL="260684" indent="-260684">
              <a:buSzPct val="100000"/>
              <a:buChar char="•"/>
              <a:defRPr sz="25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Zum Bearbeiten doppelklicken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9" name="Identified quality issues in the data:…"/>
          <p:cNvSpPr txBox="1"/>
          <p:nvPr/>
        </p:nvSpPr>
        <p:spPr>
          <a:xfrm>
            <a:off x="827492" y="1642958"/>
            <a:ext cx="11273615" cy="3253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2500"/>
            </a:pPr>
            <a:r>
              <a:t>Identified quality issues in the data:</a:t>
            </a:r>
          </a:p>
          <a:p>
            <a:pPr marL="260684" indent="-260684">
              <a:buSzPct val="100000"/>
              <a:buChar char="•"/>
              <a:defRPr sz="2500"/>
            </a:pPr>
            <a:r>
              <a:t>Save percentages greater than 100</a:t>
            </a:r>
          </a:p>
          <a:p>
            <a:pPr marL="260684" indent="-260684">
              <a:buSzPct val="100000"/>
              <a:buChar char="•"/>
              <a:defRPr sz="2500"/>
            </a:pPr>
            <a:r>
              <a:t>Suspicious amount of first names ending in „ius“</a:t>
            </a:r>
          </a:p>
          <a:p>
            <a:pPr marL="260684" indent="-260684">
              <a:buSzPct val="100000"/>
              <a:buChar char="•"/>
              <a:defRPr sz="2500"/>
            </a:pPr>
            <a:r>
              <a:t>International ids in roman numerals</a:t>
            </a:r>
          </a:p>
          <a:p>
            <a:pPr marL="260684" indent="-260684">
              <a:buSzPct val="100000"/>
              <a:buChar char="•"/>
              <a:defRPr sz="2500"/>
            </a:pPr>
            <a:r>
              <a:t>37 rows with missing values</a:t>
            </a:r>
          </a:p>
          <a:p>
            <a:pPr marL="260684" indent="-260684">
              <a:buSzPct val="100000"/>
              <a:buChar char="•"/>
              <a:defRPr sz="2500"/>
            </a:pPr>
            <a:r>
              <a:t>Age outliers found upon inspection, decided on upper bound of oldest person </a:t>
            </a:r>
          </a:p>
          <a:p>
            <a:pPr/>
            <a:r>
              <a:rPr sz="2500"/>
              <a:t>   alive due to diversity encouragement</a:t>
            </a:r>
            <a:r>
              <a:t> </a:t>
            </a:r>
          </a:p>
        </p:txBody>
      </p:sp>
      <p:sp>
        <p:nvSpPr>
          <p:cNvPr id="90" name="Preprocessing"/>
          <p:cNvSpPr txBox="1"/>
          <p:nvPr/>
        </p:nvSpPr>
        <p:spPr>
          <a:xfrm>
            <a:off x="850161" y="853532"/>
            <a:ext cx="3009837" cy="57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90000"/>
              </a:lnSpc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Preprocessing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Data relationship"/>
          <p:cNvSpPr txBox="1"/>
          <p:nvPr>
            <p:ph type="title"/>
          </p:nvPr>
        </p:nvSpPr>
        <p:spPr>
          <a:xfrm>
            <a:off x="880588" y="884237"/>
            <a:ext cx="3137458" cy="614118"/>
          </a:xfrm>
          <a:prstGeom prst="rect">
            <a:avLst/>
          </a:prstGeom>
        </p:spPr>
        <p:txBody>
          <a:bodyPr/>
          <a:lstStyle>
            <a:lvl1pPr defTabSz="622156">
              <a:defRPr sz="3264"/>
            </a:lvl1pPr>
          </a:lstStyle>
          <a:p>
            <a:pPr/>
            <a:r>
              <a:t>Data relationship</a:t>
            </a:r>
          </a:p>
        </p:txBody>
      </p:sp>
      <p:sp>
        <p:nvSpPr>
          <p:cNvPr id="93" name="Zum Bearbeiten doppelklicken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94" name="heatmap_white.png" descr="heatmap_whit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88587" y="1224015"/>
            <a:ext cx="5913258" cy="5098505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Visualize correlation between columns…"/>
          <p:cNvSpPr txBox="1"/>
          <p:nvPr/>
        </p:nvSpPr>
        <p:spPr>
          <a:xfrm>
            <a:off x="822221" y="1663699"/>
            <a:ext cx="5809971" cy="802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300"/>
            </a:pPr>
            <a:r>
              <a:t>Visualize correlation between columns</a:t>
            </a:r>
          </a:p>
          <a:p>
            <a:pPr>
              <a:defRPr sz="2300"/>
            </a:pPr>
            <a:r>
              <a:t>using a Heatmap</a:t>
            </a:r>
          </a:p>
        </p:txBody>
      </p:sp>
      <p:sp>
        <p:nvSpPr>
          <p:cNvPr id="96" name="Columns with highest correlation:"/>
          <p:cNvSpPr txBox="1"/>
          <p:nvPr/>
        </p:nvSpPr>
        <p:spPr>
          <a:xfrm>
            <a:off x="809357" y="2915611"/>
            <a:ext cx="4406481" cy="840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rPr sz="2300"/>
              <a:t>Columns with highest correlation:</a:t>
            </a:r>
            <a:endParaRPr sz="2300"/>
          </a:p>
          <a:p>
            <a:pPr/>
            <a:r>
              <a:t> </a:t>
            </a:r>
          </a:p>
        </p:txBody>
      </p:sp>
      <p:sp>
        <p:nvSpPr>
          <p:cNvPr id="97" name="Columns with no significant correlation…"/>
          <p:cNvSpPr txBox="1"/>
          <p:nvPr/>
        </p:nvSpPr>
        <p:spPr>
          <a:xfrm>
            <a:off x="740415" y="4201805"/>
            <a:ext cx="5101527" cy="170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2200"/>
            </a:pPr>
            <a:r>
              <a:t>Columns with no significant correlation </a:t>
            </a:r>
          </a:p>
          <a:p>
            <a:pPr>
              <a:defRPr sz="2200"/>
            </a:pPr>
            <a:r>
              <a:t>that seemed surprising:</a:t>
            </a:r>
          </a:p>
          <a:p>
            <a:pPr marL="260684" indent="-260684">
              <a:buSzPct val="100000"/>
              <a:buChar char="•"/>
              <a:defRPr sz="2200"/>
            </a:pPr>
            <a:r>
              <a:t>Power play time and Power play goals</a:t>
            </a:r>
          </a:p>
          <a:p>
            <a:pPr marL="260684" indent="-260684">
              <a:buSzPct val="100000"/>
              <a:buChar char="•"/>
              <a:defRPr sz="2200"/>
            </a:pPr>
            <a:r>
              <a:t>Years played and salary</a:t>
            </a:r>
            <a:endParaRPr sz="19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Data relationship"/>
          <p:cNvSpPr txBox="1"/>
          <p:nvPr>
            <p:ph type="title"/>
          </p:nvPr>
        </p:nvSpPr>
        <p:spPr>
          <a:xfrm>
            <a:off x="880588" y="884237"/>
            <a:ext cx="3096624" cy="614118"/>
          </a:xfrm>
          <a:prstGeom prst="rect">
            <a:avLst/>
          </a:prstGeom>
        </p:spPr>
        <p:txBody>
          <a:bodyPr/>
          <a:lstStyle>
            <a:lvl1pPr defTabSz="615675">
              <a:defRPr sz="3230"/>
            </a:lvl1pPr>
          </a:lstStyle>
          <a:p>
            <a:pPr/>
            <a:r>
              <a:t>Data relationship</a:t>
            </a:r>
          </a:p>
        </p:txBody>
      </p:sp>
      <p:sp>
        <p:nvSpPr>
          <p:cNvPr id="100" name="Zum Bearbeiten doppelklicken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Data cleaning"/>
          <p:cNvSpPr txBox="1"/>
          <p:nvPr>
            <p:ph type="title"/>
          </p:nvPr>
        </p:nvSpPr>
        <p:spPr>
          <a:xfrm>
            <a:off x="880588" y="884237"/>
            <a:ext cx="2581075" cy="614118"/>
          </a:xfrm>
          <a:prstGeom prst="rect">
            <a:avLst/>
          </a:prstGeom>
        </p:spPr>
        <p:txBody>
          <a:bodyPr/>
          <a:lstStyle>
            <a:lvl1pPr defTabSz="628637">
              <a:defRPr sz="3298"/>
            </a:lvl1pPr>
          </a:lstStyle>
          <a:p>
            <a:pPr/>
            <a:r>
              <a:t>Data cleaning</a:t>
            </a:r>
          </a:p>
        </p:txBody>
      </p:sp>
      <p:sp>
        <p:nvSpPr>
          <p:cNvPr id="103" name="Zum Bearbeiten doppelklicken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4" name="Columns drop due to inconsistency with others:…"/>
          <p:cNvSpPr txBox="1"/>
          <p:nvPr/>
        </p:nvSpPr>
        <p:spPr>
          <a:xfrm>
            <a:off x="860814" y="1745873"/>
            <a:ext cx="11227416" cy="599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marL="260684" indent="-260684">
              <a:buSzPct val="100000"/>
              <a:buChar char="•"/>
            </a:pPr>
            <a:r>
              <a:t>Columns drop due to inconsistency with others:</a:t>
            </a:r>
          </a:p>
          <a:p>
            <a:pPr lvl="1" marL="641684" indent="-260684">
              <a:buSzPct val="100000"/>
              <a:buChar char="•"/>
            </a:pPr>
            <a:r>
              <a:t>Birth city </a:t>
            </a:r>
          </a:p>
          <a:p>
            <a:pPr lvl="1" marL="641684" indent="-260684">
              <a:buSzPct val="100000"/>
              <a:buChar char="•"/>
            </a:pPr>
            <a:r>
              <a:t>Puck touches</a:t>
            </a:r>
          </a:p>
          <a:p>
            <a:pPr lvl="1" marL="641684" indent="-260684">
              <a:buSzPct val="100000"/>
              <a:buChar char="•"/>
            </a:pPr>
            <a:r>
              <a:t>Time between penalties </a:t>
            </a:r>
          </a:p>
          <a:p>
            <a:pPr lvl="1" marL="641684" indent="-260684">
              <a:buSzPct val="100000"/>
              <a:buChar char="•"/>
            </a:pPr>
            <a:r>
              <a:t>Goals total</a:t>
            </a:r>
          </a:p>
          <a:p>
            <a:pPr/>
          </a:p>
          <a:p>
            <a:pPr marL="260684" indent="-260684">
              <a:buSzPct val="100000"/>
              <a:buChar char="•"/>
            </a:pPr>
            <a:r>
              <a:t>Rows dropped due to conflicting values:</a:t>
            </a:r>
          </a:p>
          <a:p>
            <a:pPr lvl="1" marL="641684" indent="-260684">
              <a:buSzPct val="100000"/>
              <a:buChar char="•"/>
            </a:pPr>
            <a:r>
              <a:t>Players with more years pro than years played</a:t>
            </a:r>
          </a:p>
          <a:p>
            <a:pPr lvl="1" marL="641684" indent="-260684">
              <a:buSzPct val="100000"/>
              <a:buChar char="•"/>
            </a:pPr>
            <a:r>
              <a:t>0 years of experience but level higher than a rookie</a:t>
            </a:r>
          </a:p>
          <a:p>
            <a:pPr lvl="1" marL="641684" indent="-260684">
              <a:buSzPct val="100000"/>
              <a:buChar char="•"/>
            </a:pPr>
            <a:r>
              <a:t>Age outliers, upper bound decided by oldest person alive on earth (122)</a:t>
            </a:r>
          </a:p>
          <a:p>
            <a:pPr lvl="1" marL="641684" indent="-260684">
              <a:buSzPct val="100000"/>
              <a:buChar char="•"/>
            </a:pPr>
            <a:r>
              <a:t>Draft year before 1922</a:t>
            </a:r>
          </a:p>
          <a:p>
            <a:pPr lvl="1" marL="641684" indent="-260684">
              <a:buSzPct val="100000"/>
              <a:buChar char="•"/>
            </a:pPr>
          </a:p>
          <a:p>
            <a:pPr lvl="1" marL="641684" indent="-260684">
              <a:buSzPct val="100000"/>
              <a:buChar char="•"/>
            </a:pPr>
          </a:p>
          <a:p>
            <a:pPr lvl="1" marL="641684" indent="-260684">
              <a:buSzPct val="100000"/>
              <a:buChar char="•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Data clean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 cleaning </a:t>
            </a:r>
          </a:p>
        </p:txBody>
      </p:sp>
      <p:sp>
        <p:nvSpPr>
          <p:cNvPr id="107" name="Zum Bearbeiten doppelklicken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8" name="Additional actions taken:…"/>
          <p:cNvSpPr txBox="1"/>
          <p:nvPr/>
        </p:nvSpPr>
        <p:spPr>
          <a:xfrm>
            <a:off x="912271" y="1745873"/>
            <a:ext cx="9620718" cy="284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Additional actions taken:</a:t>
            </a:r>
          </a:p>
          <a:p>
            <a:pPr marL="260684" indent="-260684">
              <a:buSzPct val="100000"/>
              <a:buChar char="•"/>
            </a:pPr>
            <a:r>
              <a:t>Filled NaN values</a:t>
            </a:r>
          </a:p>
          <a:p>
            <a:pPr marL="260684" indent="-260684">
              <a:buSzPct val="100000"/>
              <a:buChar char="•"/>
            </a:pPr>
            <a:r>
              <a:t>Set penalty time to 0 for players without any penalties</a:t>
            </a:r>
          </a:p>
          <a:p>
            <a:pPr marL="260684" indent="-260684">
              <a:buSzPct val="100000"/>
              <a:buChar char="•"/>
            </a:pPr>
            <a:r>
              <a:t>Puck possession time reformatted from minutes to seconds</a:t>
            </a:r>
          </a:p>
          <a:p>
            <a:pPr marL="260684" indent="-260684">
              <a:buSzPct val="100000"/>
              <a:buChar char="•"/>
            </a:pPr>
            <a:r>
              <a:t>Newly calculated shooting percentage</a:t>
            </a:r>
          </a:p>
          <a:p>
            <a:pPr lvl="2" indent="457200"/>
            <a:r>
              <a:t>Equation: shooting_percentage = goals/ number of shots *100</a:t>
            </a:r>
          </a:p>
          <a:p>
            <a:pPr marL="260684" indent="-260684">
              <a:buSzPct val="100000"/>
              <a:buChar char="•"/>
            </a:pP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ata clean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40102"/>
                </a:solidFill>
              </a:defRPr>
            </a:lvl1pPr>
          </a:lstStyle>
          <a:p>
            <a:pPr/>
            <a:r>
              <a:t>Data cleaning</a:t>
            </a:r>
          </a:p>
        </p:txBody>
      </p:sp>
      <p:sp>
        <p:nvSpPr>
          <p:cNvPr id="111" name="Zum Bearbeiten doppelklicken"/>
          <p:cNvSpPr txBox="1"/>
          <p:nvPr>
            <p:ph type="body" sz="quarter" idx="1"/>
          </p:nvPr>
        </p:nvSpPr>
        <p:spPr>
          <a:xfrm>
            <a:off x="880588" y="349996"/>
            <a:ext cx="10187500" cy="28672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2" name="Foliennummer"/>
          <p:cNvSpPr txBox="1"/>
          <p:nvPr>
            <p:ph type="sldNum" sz="quarter" idx="4294967295"/>
          </p:nvPr>
        </p:nvSpPr>
        <p:spPr>
          <a:xfrm>
            <a:off x="239838" y="924083"/>
            <a:ext cx="131293" cy="1973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3" name="We first looked at each Dataset separately to identify problems:…"/>
          <p:cNvSpPr txBox="1"/>
          <p:nvPr/>
        </p:nvSpPr>
        <p:spPr>
          <a:xfrm>
            <a:off x="196729" y="1663700"/>
            <a:ext cx="11914128" cy="4518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2500">
                <a:latin typeface="Arial"/>
                <a:ea typeface="Arial"/>
                <a:cs typeface="Arial"/>
                <a:sym typeface="Arial"/>
              </a:defRPr>
            </a:pPr>
            <a:r>
              <a:t>For easier comprehension split up into the original datasets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300">
                <a:latin typeface="Aptos"/>
                <a:ea typeface="Aptos"/>
                <a:cs typeface="Aptos"/>
                <a:sym typeface="Aptos"/>
              </a:defRPr>
            </a:pPr>
            <a:r>
              <a:t>Identity_card: </a:t>
            </a:r>
          </a:p>
          <a:p>
            <a:pPr lvl="1" marL="6858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300">
                <a:latin typeface="Aptos"/>
                <a:ea typeface="Aptos"/>
                <a:cs typeface="Aptos"/>
                <a:sym typeface="Aptos"/>
              </a:defRPr>
            </a:pPr>
            <a:r>
              <a:t>birth city and nationality often didn’t match, birth city dropped due to </a:t>
            </a:r>
          </a:p>
          <a:p>
            <a:pPr lvl="3" indent="685800" defTabSz="914400">
              <a:lnSpc>
                <a:spcPct val="90000"/>
              </a:lnSpc>
              <a:spcBef>
                <a:spcPts val="1000"/>
              </a:spcBef>
              <a:defRPr sz="2300">
                <a:latin typeface="Aptos"/>
                <a:ea typeface="Aptos"/>
                <a:cs typeface="Aptos"/>
                <a:sym typeface="Aptos"/>
              </a:defRPr>
            </a:pPr>
            <a:r>
              <a:t>higher relevance of nationality for player’s visas etc. </a:t>
            </a:r>
          </a:p>
          <a:p>
            <a:pPr lvl="1" marL="6858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300">
                <a:latin typeface="Aptos"/>
                <a:ea typeface="Aptos"/>
                <a:cs typeface="Aptos"/>
                <a:sym typeface="Aptos"/>
              </a:defRPr>
            </a:pPr>
            <a:r>
              <a:t>Age outliers found upon inspection, decided on the upper bound of 122 in reference to</a:t>
            </a:r>
          </a:p>
          <a:p>
            <a:pPr lvl="1" marL="6858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300">
                <a:latin typeface="Aptos"/>
                <a:ea typeface="Aptos"/>
                <a:cs typeface="Aptos"/>
                <a:sym typeface="Aptos"/>
              </a:defRPr>
            </a:pPr>
            <a:r>
              <a:t> the oldest person alive on earth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300">
                <a:latin typeface="Aptos"/>
                <a:ea typeface="Aptos"/>
                <a:cs typeface="Aptos"/>
                <a:sym typeface="Aptos"/>
              </a:defRPr>
            </a:pPr>
            <a:r>
              <a:t>Scouting notes:</a:t>
            </a:r>
          </a:p>
          <a:p>
            <a:pPr lvl="1" marL="6858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300">
                <a:latin typeface="Aptos"/>
                <a:ea typeface="Aptos"/>
                <a:cs typeface="Aptos"/>
                <a:sym typeface="Aptos"/>
              </a:defRPr>
            </a:pPr>
            <a:r>
              <a:t>Some rows with more years pro than years played in general, these were dropped</a:t>
            </a:r>
          </a:p>
          <a:p>
            <a:pPr lvl="1" marL="6858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300">
                <a:latin typeface="Aptos"/>
                <a:ea typeface="Aptos"/>
                <a:cs typeface="Aptos"/>
                <a:sym typeface="Aptos"/>
              </a:defRPr>
            </a:pPr>
            <a:r>
              <a:t>Dropped players with 0 years of experience but experience level higher than rookie </a:t>
            </a:r>
          </a:p>
          <a:p>
            <a:pPr lvl="1" marL="6858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300">
                <a:latin typeface="Aptos"/>
                <a:ea typeface="Aptos"/>
                <a:cs typeface="Aptos"/>
                <a:sym typeface="Aptos"/>
              </a:defRPr>
            </a:pPr>
            <a:r>
              <a:t>Filled NaN values for scout notes with „no notes“ and for dominant hand with „none“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Data clean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40102"/>
                </a:solidFill>
              </a:defRPr>
            </a:lvl1pPr>
          </a:lstStyle>
          <a:p>
            <a:pPr/>
            <a:r>
              <a:t>Data cleaning</a:t>
            </a:r>
          </a:p>
        </p:txBody>
      </p:sp>
      <p:sp>
        <p:nvSpPr>
          <p:cNvPr id="116" name="Zum Bearbeiten doppelklicken"/>
          <p:cNvSpPr txBox="1"/>
          <p:nvPr>
            <p:ph type="body" sz="quarter" idx="1"/>
          </p:nvPr>
        </p:nvSpPr>
        <p:spPr>
          <a:xfrm>
            <a:off x="880588" y="349996"/>
            <a:ext cx="10187500" cy="28672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Foliennummer"/>
          <p:cNvSpPr txBox="1"/>
          <p:nvPr>
            <p:ph type="sldNum" sz="quarter" idx="4294967295"/>
          </p:nvPr>
        </p:nvSpPr>
        <p:spPr>
          <a:xfrm>
            <a:off x="239838" y="924083"/>
            <a:ext cx="131293" cy="1973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8" name="Performance:…"/>
          <p:cNvSpPr txBox="1"/>
          <p:nvPr/>
        </p:nvSpPr>
        <p:spPr>
          <a:xfrm>
            <a:off x="500614" y="1778013"/>
            <a:ext cx="12307164" cy="5298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marL="260684" indent="-260684">
              <a:buSzPct val="100000"/>
              <a:buChar char="•"/>
              <a:defRPr sz="2300"/>
            </a:pPr>
            <a:r>
              <a:t>Performance:</a:t>
            </a:r>
          </a:p>
          <a:p>
            <a:pPr lvl="1" marL="641684" indent="-260684">
              <a:buSzPct val="100000"/>
              <a:buChar char="•"/>
              <a:defRPr sz="2300"/>
            </a:pPr>
            <a:r>
              <a:t>Puck touches, time between penalties and goals total were dropped due to inconsistency </a:t>
            </a:r>
          </a:p>
          <a:p>
            <a:pPr lvl="1" indent="228600">
              <a:defRPr sz="2300"/>
            </a:pPr>
            <a:r>
              <a:t>     with other columns </a:t>
            </a:r>
          </a:p>
          <a:p>
            <a:pPr lvl="1" marL="641684" indent="-260684">
              <a:buSzPct val="100000"/>
              <a:buChar char="•"/>
              <a:defRPr sz="2300"/>
            </a:pPr>
            <a:r>
              <a:t>puck possession time reformatted from minutes to seconds </a:t>
            </a:r>
          </a:p>
          <a:p>
            <a:pPr lvl="1" marL="641684" indent="-260684">
              <a:buSzPct val="100000"/>
              <a:buChar char="•"/>
              <a:defRPr sz="2300"/>
            </a:pPr>
            <a:r>
              <a:t>Set penalty minutes to 0 for players without any saved penalties </a:t>
            </a:r>
          </a:p>
          <a:p>
            <a:pPr lvl="1" marL="641684" indent="-260684">
              <a:buSzPct val="100000"/>
              <a:buChar char="•"/>
              <a:defRPr sz="2300"/>
            </a:pPr>
            <a:r>
              <a:t>Newly calculated shooting percentage since values beforehand didn’t seem </a:t>
            </a:r>
          </a:p>
          <a:p>
            <a:pPr lvl="2" indent="457200">
              <a:defRPr sz="2300"/>
            </a:pPr>
            <a:r>
              <a:t>  sensible -&gt; Equation: shooting percentage = goals/ number of shots * 100</a:t>
            </a:r>
          </a:p>
          <a:p>
            <a:pPr lvl="2" indent="457200">
              <a:defRPr sz="2300"/>
            </a:pPr>
          </a:p>
          <a:p>
            <a:pPr marL="240631" indent="-240631">
              <a:buSzPct val="100000"/>
              <a:buChar char="•"/>
            </a:pPr>
            <a:r>
              <a:rPr sz="2400"/>
              <a:t>Medical:</a:t>
            </a:r>
            <a:r>
              <a:t> </a:t>
            </a:r>
          </a:p>
          <a:p>
            <a:pPr lvl="1" marL="641684" indent="-260684">
              <a:buSzPct val="100000"/>
              <a:buChar char="•"/>
            </a:pPr>
          </a:p>
          <a:p>
            <a:pPr lvl="1" marL="641684" indent="-260684">
              <a:buSzPct val="100000"/>
              <a:buChar char="•"/>
            </a:pPr>
          </a:p>
          <a:p>
            <a:pPr lvl="1" marL="641684" indent="-260684">
              <a:buSzPct val="100000"/>
              <a:buChar char="•"/>
            </a:pPr>
          </a:p>
          <a:p>
            <a:pPr marL="260684" indent="-260684">
              <a:buSzPct val="100000"/>
              <a:buChar char="•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Most important findings"/>
          <p:cNvSpPr txBox="1"/>
          <p:nvPr>
            <p:ph type="title"/>
          </p:nvPr>
        </p:nvSpPr>
        <p:spPr>
          <a:xfrm>
            <a:off x="880588" y="884237"/>
            <a:ext cx="3768153" cy="614118"/>
          </a:xfrm>
          <a:prstGeom prst="rect">
            <a:avLst/>
          </a:prstGeom>
        </p:spPr>
        <p:txBody>
          <a:bodyPr/>
          <a:lstStyle>
            <a:lvl1pPr defTabSz="544387">
              <a:defRPr sz="2856">
                <a:solidFill>
                  <a:srgbClr val="040102"/>
                </a:solidFill>
              </a:defRPr>
            </a:lvl1pPr>
          </a:lstStyle>
          <a:p>
            <a:pPr/>
            <a:r>
              <a:t>Most important findings</a:t>
            </a:r>
          </a:p>
        </p:txBody>
      </p:sp>
      <p:sp>
        <p:nvSpPr>
          <p:cNvPr id="121" name="Zum Bearbeiten doppelklicken"/>
          <p:cNvSpPr txBox="1"/>
          <p:nvPr>
            <p:ph type="body" sz="quarter" idx="1"/>
          </p:nvPr>
        </p:nvSpPr>
        <p:spPr>
          <a:xfrm>
            <a:off x="880588" y="349996"/>
            <a:ext cx="10187500" cy="28672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2" name="Foliennummer"/>
          <p:cNvSpPr txBox="1"/>
          <p:nvPr>
            <p:ph type="sldNum" sz="quarter" idx="4294967295"/>
          </p:nvPr>
        </p:nvSpPr>
        <p:spPr>
          <a:xfrm>
            <a:off x="241984" y="924083"/>
            <a:ext cx="127001" cy="1973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3" name="Inconsistent columns…"/>
          <p:cNvSpPr txBox="1"/>
          <p:nvPr/>
        </p:nvSpPr>
        <p:spPr>
          <a:xfrm>
            <a:off x="487750" y="1778014"/>
            <a:ext cx="11634833" cy="2453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marL="260684" indent="-260684">
              <a:buSzPct val="100000"/>
              <a:buChar char="•"/>
            </a:pPr>
            <a:r>
              <a:t>Inconsistent columns</a:t>
            </a:r>
          </a:p>
          <a:p>
            <a:pPr marL="260684" indent="-260684">
              <a:buSzPct val="100000"/>
              <a:buChar char="•"/>
            </a:pPr>
            <a:r>
              <a:t>Missing data values, </a:t>
            </a:r>
          </a:p>
          <a:p>
            <a:pPr marL="260684" indent="-260684">
              <a:buSzPct val="100000"/>
              <a:buChar char="•"/>
            </a:pPr>
            <a:r>
              <a:t>bizarre values such as age of 312  or draft year of 1850</a:t>
            </a:r>
          </a:p>
          <a:p>
            <a:pPr marL="260684" indent="-260684">
              <a:buSzPct val="100000"/>
              <a:buChar char="•"/>
            </a:pPr>
            <a:r>
              <a:t>Correlation between </a:t>
            </a:r>
          </a:p>
          <a:p>
            <a:pPr marL="260684" indent="-260684">
              <a:buSzPct val="100000"/>
              <a:buChar char="•"/>
            </a:pPr>
            <a:r>
              <a:t>Surprisingly no correlation between salary and years played or being captain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IWT">
  <a:themeElements>
    <a:clrScheme name="IW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IWT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IW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6480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6480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IWT">
  <a:themeElements>
    <a:clrScheme name="IW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IWT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IW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6480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6480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