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2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928600" cy="73152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64808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1296161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944242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2592323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3240404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3888485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4536566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5184647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2" name="Shape 6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648080" latinLnBrk="0">
      <a:defRPr sz="1700">
        <a:latin typeface="+mj-lt"/>
        <a:ea typeface="+mj-ea"/>
        <a:cs typeface="+mj-cs"/>
        <a:sym typeface="Calibri"/>
      </a:defRPr>
    </a:lvl1pPr>
    <a:lvl2pPr indent="228600" defTabSz="648080" latinLnBrk="0">
      <a:defRPr sz="1700">
        <a:latin typeface="+mj-lt"/>
        <a:ea typeface="+mj-ea"/>
        <a:cs typeface="+mj-cs"/>
        <a:sym typeface="Calibri"/>
      </a:defRPr>
    </a:lvl2pPr>
    <a:lvl3pPr indent="457200" defTabSz="648080" latinLnBrk="0">
      <a:defRPr sz="1700">
        <a:latin typeface="+mj-lt"/>
        <a:ea typeface="+mj-ea"/>
        <a:cs typeface="+mj-cs"/>
        <a:sym typeface="Calibri"/>
      </a:defRPr>
    </a:lvl3pPr>
    <a:lvl4pPr indent="685800" defTabSz="648080" latinLnBrk="0">
      <a:defRPr sz="1700">
        <a:latin typeface="+mj-lt"/>
        <a:ea typeface="+mj-ea"/>
        <a:cs typeface="+mj-cs"/>
        <a:sym typeface="Calibri"/>
      </a:defRPr>
    </a:lvl4pPr>
    <a:lvl5pPr indent="914400" defTabSz="648080" latinLnBrk="0">
      <a:defRPr sz="1700">
        <a:latin typeface="+mj-lt"/>
        <a:ea typeface="+mj-ea"/>
        <a:cs typeface="+mj-cs"/>
        <a:sym typeface="Calibri"/>
      </a:defRPr>
    </a:lvl5pPr>
    <a:lvl6pPr indent="1143000" defTabSz="648080" latinLnBrk="0">
      <a:defRPr sz="1700">
        <a:latin typeface="+mj-lt"/>
        <a:ea typeface="+mj-ea"/>
        <a:cs typeface="+mj-cs"/>
        <a:sym typeface="Calibri"/>
      </a:defRPr>
    </a:lvl6pPr>
    <a:lvl7pPr indent="1371600" defTabSz="648080" latinLnBrk="0">
      <a:defRPr sz="1700">
        <a:latin typeface="+mj-lt"/>
        <a:ea typeface="+mj-ea"/>
        <a:cs typeface="+mj-cs"/>
        <a:sym typeface="Calibri"/>
      </a:defRPr>
    </a:lvl7pPr>
    <a:lvl8pPr indent="1600200" defTabSz="648080" latinLnBrk="0">
      <a:defRPr sz="1700">
        <a:latin typeface="+mj-lt"/>
        <a:ea typeface="+mj-ea"/>
        <a:cs typeface="+mj-cs"/>
        <a:sym typeface="Calibri"/>
      </a:defRPr>
    </a:lvl8pPr>
    <a:lvl9pPr indent="1828800" defTabSz="648080" latinLnBrk="0">
      <a:defRPr sz="17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cover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ild 1" descr="Bild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" y="0"/>
            <a:ext cx="12938126" cy="6706139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Textfeld 271"/>
          <p:cNvSpPr txBox="1"/>
          <p:nvPr/>
        </p:nvSpPr>
        <p:spPr>
          <a:xfrm>
            <a:off x="10569532" y="1218837"/>
            <a:ext cx="2037691" cy="754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r">
              <a:defRPr spc="28" sz="1700"/>
            </a:pPr>
            <a:r>
              <a:t>WISSEN</a:t>
            </a:r>
            <a:endParaRPr spc="39" sz="2400"/>
          </a:p>
          <a:p>
            <a:pPr algn="r">
              <a:defRPr spc="28" sz="1700"/>
            </a:pPr>
            <a:r>
              <a:t>TECHNIK</a:t>
            </a:r>
            <a:endParaRPr spc="39" sz="2400"/>
          </a:p>
          <a:p>
            <a:pPr algn="r">
              <a:defRPr spc="28" sz="1700"/>
            </a:pPr>
            <a:r>
              <a:t>LEIDENSCHAFT</a:t>
            </a:r>
          </a:p>
        </p:txBody>
      </p:sp>
      <p:sp>
        <p:nvSpPr>
          <p:cNvPr id="18" name="Klicken und eine Überschrift hinzufügen"/>
          <p:cNvSpPr txBox="1"/>
          <p:nvPr>
            <p:ph type="title" hasCustomPrompt="1"/>
          </p:nvPr>
        </p:nvSpPr>
        <p:spPr>
          <a:xfrm>
            <a:off x="879471" y="1398587"/>
            <a:ext cx="8658002" cy="2426401"/>
          </a:xfrm>
          <a:prstGeom prst="rect">
            <a:avLst/>
          </a:prstGeom>
        </p:spPr>
        <p:txBody>
          <a:bodyPr anchor="b"/>
          <a:lstStyle>
            <a:lvl1pPr>
              <a:defRPr b="1" sz="4500">
                <a:solidFill>
                  <a:srgbClr val="F70146"/>
                </a:solidFill>
              </a:defRPr>
            </a:lvl1pPr>
          </a:lstStyle>
          <a:p>
            <a:pPr/>
            <a:r>
              <a:t>Klicken und eine Überschrift hinzufügen</a:t>
            </a:r>
          </a:p>
        </p:txBody>
      </p:sp>
      <p:sp>
        <p:nvSpPr>
          <p:cNvPr id="1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title_1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7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title_2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6" name="Titeltext"/>
          <p:cNvSpPr txBox="1"/>
          <p:nvPr>
            <p:ph type="title"/>
          </p:nvPr>
        </p:nvSpPr>
        <p:spPr>
          <a:xfrm>
            <a:off x="880588" y="884237"/>
            <a:ext cx="11876400" cy="1220402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2columns_title_1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5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2columns_title_2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iteltext"/>
          <p:cNvSpPr txBox="1"/>
          <p:nvPr>
            <p:ph type="title"/>
          </p:nvPr>
        </p:nvSpPr>
        <p:spPr>
          <a:xfrm>
            <a:off x="880588" y="884237"/>
            <a:ext cx="11876400" cy="1220402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4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hyperlink" Target="mailto:@tugraz.at" TargetMode="External"/><Relationship Id="rId4" Type="http://schemas.openxmlformats.org/officeDocument/2006/relationships/hyperlink" Target="http://www.iwt.tugraz.at/" TargetMode="External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7"/>
          <p:cNvSpPr/>
          <p:nvPr/>
        </p:nvSpPr>
        <p:spPr>
          <a:xfrm>
            <a:off x="0" y="6707199"/>
            <a:ext cx="12938125" cy="614117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" name="Gerade Verbindung 17"/>
          <p:cNvSpPr/>
          <p:nvPr/>
        </p:nvSpPr>
        <p:spPr>
          <a:xfrm>
            <a:off x="880587" y="715716"/>
            <a:ext cx="11868856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4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7" cy="453804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feld 14"/>
          <p:cNvSpPr txBox="1"/>
          <p:nvPr/>
        </p:nvSpPr>
        <p:spPr>
          <a:xfrm>
            <a:off x="880588" y="6827792"/>
            <a:ext cx="7675317" cy="400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/>
            </a:pPr>
            <a:r>
              <a:t>Kontakt: </a:t>
            </a:r>
            <a:r>
              <a:rPr u="sng">
                <a:solidFill>
                  <a:srgbClr val="1111FF"/>
                </a:solidFill>
                <a:uFill>
                  <a:solidFill>
                    <a:srgbClr val="1111FF"/>
                  </a:solidFill>
                </a:uFill>
                <a:hlinkClick r:id="rId3" invalidUrl="" action="" tgtFrame="" tooltip="" history="1" highlightClick="0" endSnd="0"/>
              </a:rPr>
              <a:t>....@tugraz.at</a:t>
            </a:r>
            <a:r>
              <a:t>, </a:t>
            </a:r>
            <a:r>
              <a:rPr u="sng">
                <a:solidFill>
                  <a:srgbClr val="1111FF"/>
                </a:solidFill>
                <a:uFill>
                  <a:solidFill>
                    <a:srgbClr val="1111FF"/>
                  </a:solidFill>
                </a:uFill>
                <a:hlinkClick r:id="rId4" invalidUrl="" action="" tgtFrame="" tooltip="" history="1" highlightClick="0" endSnd="0"/>
              </a:rPr>
              <a:t>www.iwt.tugraz.at</a:t>
            </a:r>
            <a:endParaRPr u="sng">
              <a:solidFill>
                <a:srgbClr val="0070C0"/>
              </a:solidFill>
            </a:endParaRPr>
          </a:p>
          <a:p>
            <a:pPr>
              <a:defRPr sz="1400"/>
            </a:pPr>
            <a:r>
              <a:t>Titel der Veranstaltung, Ort &amp; Datum</a:t>
            </a:r>
          </a:p>
        </p:txBody>
      </p:sp>
      <p:sp>
        <p:nvSpPr>
          <p:cNvPr id="6" name="Rechteck 19"/>
          <p:cNvSpPr/>
          <p:nvPr/>
        </p:nvSpPr>
        <p:spPr>
          <a:xfrm>
            <a:off x="1" y="715716"/>
            <a:ext cx="610968" cy="614117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" name="Titeltext"/>
          <p:cNvSpPr txBox="1"/>
          <p:nvPr>
            <p:ph type="title"/>
          </p:nvPr>
        </p:nvSpPr>
        <p:spPr>
          <a:xfrm>
            <a:off x="880588" y="884237"/>
            <a:ext cx="11876400" cy="6141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8" name="Textebene 1…"/>
          <p:cNvSpPr txBox="1"/>
          <p:nvPr>
            <p:ph type="body" idx="1"/>
          </p:nvPr>
        </p:nvSpPr>
        <p:spPr>
          <a:xfrm>
            <a:off x="880588" y="349997"/>
            <a:ext cx="10187500" cy="28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" name="Foliennummer"/>
          <p:cNvSpPr txBox="1"/>
          <p:nvPr>
            <p:ph type="sldNum" sz="quarter" idx="2"/>
          </p:nvPr>
        </p:nvSpPr>
        <p:spPr>
          <a:xfrm>
            <a:off x="200251" y="924083"/>
            <a:ext cx="210468" cy="19738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ctr">
              <a:defRPr sz="1400"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</p:sldLayoutIdLst>
  <p:transition xmlns:p14="http://schemas.microsoft.com/office/powerpoint/2010/main" spd="med" advClick="1"/>
  <p:txStyles>
    <p:titleStyle>
      <a:lvl1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609230" marR="0" indent="-24923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989999" marR="0" indent="-26999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−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374545" marR="0" indent="-294545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o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161999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5146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29718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4290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38862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64808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1296161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944242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2592323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3240404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3888485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4536566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5184647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Fußzeilenplatzhalter 2"/>
          <p:cNvSpPr txBox="1"/>
          <p:nvPr/>
        </p:nvSpPr>
        <p:spPr>
          <a:xfrm>
            <a:off x="879471" y="3882707"/>
            <a:ext cx="8658002" cy="2328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000"/>
            </a:pPr>
          </a:p>
          <a:p>
            <a:pPr>
              <a:defRPr b="1" sz="2000"/>
            </a:pPr>
            <a:r>
              <a:t>Antonia Lea Windisch</a:t>
            </a:r>
          </a:p>
          <a:p>
            <a:pPr>
              <a:defRPr b="1" sz="2000"/>
            </a:pPr>
            <a:r>
              <a:t>Emily Thomas</a:t>
            </a:r>
          </a:p>
          <a:p>
            <a:pPr>
              <a:defRPr b="1" sz="2000"/>
            </a:pPr>
            <a:r>
              <a:t>Vincent Jakl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Technische Universität Graz</a:t>
            </a:r>
          </a:p>
          <a:p>
            <a:pPr>
              <a:defRPr sz="2000"/>
            </a:pPr>
            <a:r>
              <a:t>Inffeldgasse</a:t>
            </a:r>
          </a:p>
          <a:p>
            <a:pPr>
              <a:defRPr sz="2000"/>
            </a:pPr>
            <a:r>
              <a:t>A 8010 Graz</a:t>
            </a:r>
          </a:p>
        </p:txBody>
      </p:sp>
      <p:sp>
        <p:nvSpPr>
          <p:cNvPr id="65" name="Titel 1"/>
          <p:cNvSpPr txBox="1"/>
          <p:nvPr>
            <p:ph type="title"/>
          </p:nvPr>
        </p:nvSpPr>
        <p:spPr>
          <a:xfrm>
            <a:off x="879471" y="1398588"/>
            <a:ext cx="8658002" cy="2426400"/>
          </a:xfrm>
          <a:prstGeom prst="rect">
            <a:avLst/>
          </a:prstGeom>
        </p:spPr>
        <p:txBody>
          <a:bodyPr/>
          <a:lstStyle/>
          <a:p>
            <a:pPr/>
            <a:r>
              <a:t>Knowledge Discovery and Data Mining 1 - Phase 1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Foliennummernplatzhalter 5"/>
          <p:cNvSpPr txBox="1"/>
          <p:nvPr>
            <p:ph type="sldNum" sz="quarter" idx="2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8" name="Titel 1"/>
          <p:cNvSpPr txBox="1"/>
          <p:nvPr>
            <p:ph type="title"/>
          </p:nvPr>
        </p:nvSpPr>
        <p:spPr>
          <a:xfrm>
            <a:off x="880588" y="884237"/>
            <a:ext cx="11876400" cy="614117"/>
          </a:xfrm>
          <a:prstGeom prst="rect">
            <a:avLst/>
          </a:prstGeom>
        </p:spPr>
        <p:txBody>
          <a:bodyPr/>
          <a:lstStyle/>
          <a:p>
            <a:pPr/>
            <a:r>
              <a:t>Approach</a:t>
            </a:r>
          </a:p>
        </p:txBody>
      </p:sp>
      <p:sp>
        <p:nvSpPr>
          <p:cNvPr id="69" name="Textplatzhalter 2"/>
          <p:cNvSpPr txBox="1"/>
          <p:nvPr>
            <p:ph type="body" sz="quarter" idx="1"/>
          </p:nvPr>
        </p:nvSpPr>
        <p:spPr>
          <a:xfrm>
            <a:off x="880588" y="349997"/>
            <a:ext cx="10187500" cy="28672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0" name="Text"/>
          <p:cNvSpPr txBox="1"/>
          <p:nvPr/>
        </p:nvSpPr>
        <p:spPr>
          <a:xfrm>
            <a:off x="6109439" y="3422718"/>
            <a:ext cx="709722" cy="47433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Foliennummernplatzhalter 5"/>
          <p:cNvSpPr txBox="1"/>
          <p:nvPr>
            <p:ph type="sldNum" sz="quarter" idx="2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3" name="Textplatzhalter 1"/>
          <p:cNvSpPr txBox="1"/>
          <p:nvPr>
            <p:ph type="body" sz="quarter" idx="1"/>
          </p:nvPr>
        </p:nvSpPr>
        <p:spPr>
          <a:xfrm>
            <a:off x="880588" y="349997"/>
            <a:ext cx="10187500" cy="28672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4" name="Titel 3"/>
          <p:cNvSpPr txBox="1"/>
          <p:nvPr>
            <p:ph type="title"/>
          </p:nvPr>
        </p:nvSpPr>
        <p:spPr>
          <a:xfrm>
            <a:off x="880588" y="884237"/>
            <a:ext cx="11876400" cy="1220401"/>
          </a:xfrm>
          <a:prstGeom prst="rect">
            <a:avLst/>
          </a:prstGeom>
        </p:spPr>
        <p:txBody>
          <a:bodyPr/>
          <a:lstStyle/>
          <a:p>
            <a:pPr/>
            <a:r>
              <a:t>Preprocessing</a:t>
            </a:r>
          </a:p>
        </p:txBody>
      </p:sp>
      <p:sp>
        <p:nvSpPr>
          <p:cNvPr id="75" name="Discrepancy in depiction of gender values: f/ female , m/male…"/>
          <p:cNvSpPr txBox="1"/>
          <p:nvPr/>
        </p:nvSpPr>
        <p:spPr>
          <a:xfrm>
            <a:off x="521056" y="1621719"/>
            <a:ext cx="11395731" cy="3669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Discrepancy in depiction of gender values: f/ female , m/male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-&gt; Normalized gender mapping 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Discrepancy in depiction of city and country names: Austria / austria etc.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-&gt; Normalized values to lowercase 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Internationals IDs from dataset id_card_0 refactored from roman to Arab numerals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Suspicious amount of first names ended on „ius“, interpreted that as an mistake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-&gt; removed all the ius endings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oliennummernplatzhalter 5"/>
          <p:cNvSpPr txBox="1"/>
          <p:nvPr>
            <p:ph type="sldNum" sz="quarter" idx="2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8" name="Titel 1"/>
          <p:cNvSpPr txBox="1"/>
          <p:nvPr>
            <p:ph type="title"/>
          </p:nvPr>
        </p:nvSpPr>
        <p:spPr>
          <a:xfrm>
            <a:off x="880588" y="884237"/>
            <a:ext cx="11876400" cy="614117"/>
          </a:xfrm>
          <a:prstGeom prst="rect">
            <a:avLst/>
          </a:prstGeom>
        </p:spPr>
        <p:txBody>
          <a:bodyPr/>
          <a:lstStyle/>
          <a:p>
            <a:pPr/>
            <a:r>
              <a:t>Data relationships</a:t>
            </a:r>
          </a:p>
        </p:txBody>
      </p:sp>
      <p:sp>
        <p:nvSpPr>
          <p:cNvPr id="79" name="Textplatzhalter 2"/>
          <p:cNvSpPr txBox="1"/>
          <p:nvPr>
            <p:ph type="body" sz="quarter" idx="1"/>
          </p:nvPr>
        </p:nvSpPr>
        <p:spPr>
          <a:xfrm>
            <a:off x="880588" y="349997"/>
            <a:ext cx="10187500" cy="28672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Foliennummernplatzhalter 5"/>
          <p:cNvSpPr txBox="1"/>
          <p:nvPr>
            <p:ph type="sldNum" sz="quarter" idx="2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82" name="Titel 1"/>
          <p:cNvSpPr txBox="1"/>
          <p:nvPr>
            <p:ph type="title"/>
          </p:nvPr>
        </p:nvSpPr>
        <p:spPr>
          <a:xfrm>
            <a:off x="880588" y="884237"/>
            <a:ext cx="11876400" cy="1220401"/>
          </a:xfrm>
          <a:prstGeom prst="rect">
            <a:avLst/>
          </a:prstGeom>
        </p:spPr>
        <p:txBody>
          <a:bodyPr/>
          <a:lstStyle/>
          <a:p>
            <a:pPr/>
            <a:r>
              <a:t>Data relationships</a:t>
            </a:r>
          </a:p>
        </p:txBody>
      </p:sp>
      <p:sp>
        <p:nvSpPr>
          <p:cNvPr id="83" name="Textplatzhalter 2"/>
          <p:cNvSpPr txBox="1"/>
          <p:nvPr>
            <p:ph type="body" sz="quarter" idx="1"/>
          </p:nvPr>
        </p:nvSpPr>
        <p:spPr>
          <a:xfrm>
            <a:off x="880588" y="349997"/>
            <a:ext cx="10187500" cy="28672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Data clean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Data cleaning</a:t>
            </a:r>
          </a:p>
        </p:txBody>
      </p:sp>
      <p:sp>
        <p:nvSpPr>
          <p:cNvPr id="86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7" name="Foliennummer"/>
          <p:cNvSpPr txBox="1"/>
          <p:nvPr>
            <p:ph type="sldNum" sz="quarter" idx="2"/>
          </p:nvPr>
        </p:nvSpPr>
        <p:spPr>
          <a:xfrm>
            <a:off x="241984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88" name="We first looked at each Dataset separately to identify problems:…"/>
          <p:cNvSpPr txBox="1"/>
          <p:nvPr/>
        </p:nvSpPr>
        <p:spPr>
          <a:xfrm>
            <a:off x="196729" y="1663700"/>
            <a:ext cx="12969241" cy="452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We first looked at each Dataset separately to identify problems: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Identity_card: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birth city and nationality often didn’t match, for clarity decided to drop birth city since </a:t>
            </a:r>
          </a:p>
          <a:p>
            <a:pPr lvl="3" indent="685800" defTabSz="914400">
              <a:lnSpc>
                <a:spcPct val="90000"/>
              </a:lnSpc>
              <a:spcBef>
                <a:spcPts val="1000"/>
              </a:spcBef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nationality is more important for player visas etc.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Age outliers found upon inspection, some even ≈300 years old, decided on the upper bound of 122 for the oldest person alive on earth </a:t>
            </a:r>
          </a:p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Scouting notes: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Some players had more years pro than years played in general, decided to drop those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Dropped players with 0 years of experience but experience level over a rookie </a:t>
            </a:r>
          </a:p>
          <a:p>
            <a:pPr lvl="1" marL="6858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400">
                <a:latin typeface="Aptos"/>
                <a:ea typeface="Aptos"/>
                <a:cs typeface="Aptos"/>
                <a:sym typeface="Aptos"/>
              </a:defRPr>
            </a:pPr>
            <a:r>
              <a:t>Filled NaN values for scout notes with „no notes“ and for dominant hand with „none“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Data clean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Data cleaning</a:t>
            </a:r>
          </a:p>
        </p:txBody>
      </p:sp>
      <p:sp>
        <p:nvSpPr>
          <p:cNvPr id="91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Foliennummer"/>
          <p:cNvSpPr txBox="1"/>
          <p:nvPr>
            <p:ph type="sldNum" sz="quarter" idx="2"/>
          </p:nvPr>
        </p:nvSpPr>
        <p:spPr>
          <a:xfrm>
            <a:off x="241984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Most important finding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Most important findings</a:t>
            </a:r>
          </a:p>
        </p:txBody>
      </p:sp>
      <p:sp>
        <p:nvSpPr>
          <p:cNvPr id="95" name="Zum Bearbeiten doppelklicken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6" name="Foliennummer"/>
          <p:cNvSpPr txBox="1"/>
          <p:nvPr>
            <p:ph type="sldNum" sz="quarter" idx="2"/>
          </p:nvPr>
        </p:nvSpPr>
        <p:spPr>
          <a:xfrm>
            <a:off x="241984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IWT">
  <a:themeElements>
    <a:clrScheme name="IW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IW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IW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IWT">
  <a:themeElements>
    <a:clrScheme name="IW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IW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IW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